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modernComment_102_6F5B4B07.xml" ContentType="application/vnd.ms-powerpoint.comments+xml"/>
  <Override PartName="/ppt/comments/modernComment_105_FB684234.xml" ContentType="application/vnd.ms-powerpoint.comments+xml"/>
  <Override PartName="/ppt/comments/modernComment_106_6777D3E1.xml" ContentType="application/vnd.ms-powerpoint.comments+xml"/>
  <Override PartName="/ppt/comments/modernComment_107_16AF747B.xml" ContentType="application/vnd.ms-powerpoint.comments+xml"/>
  <Override PartName="/ppt/comments/modernComment_108_B72D16BC.xml" ContentType="application/vnd.ms-powerpoint.comments+xml"/>
  <Override PartName="/ppt/comments/modernComment_10C_E492CB59.xml" ContentType="application/vnd.ms-powerpoint.comments+xml"/>
  <Override PartName="/ppt/comments/modernComment_10F_27D466E3.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58" r:id="rId7"/>
    <p:sldId id="259" r:id="rId8"/>
    <p:sldId id="261" r:id="rId9"/>
    <p:sldId id="262" r:id="rId10"/>
    <p:sldId id="263" r:id="rId11"/>
    <p:sldId id="264" r:id="rId12"/>
    <p:sldId id="265" r:id="rId13"/>
    <p:sldId id="274" r:id="rId14"/>
    <p:sldId id="266" r:id="rId15"/>
    <p:sldId id="268" r:id="rId16"/>
    <p:sldId id="267" r:id="rId17"/>
    <p:sldId id="276" r:id="rId18"/>
    <p:sldId id="272" r:id="rId19"/>
    <p:sldId id="277" r:id="rId20"/>
    <p:sldId id="269" r:id="rId21"/>
    <p:sldId id="270" r:id="rId22"/>
    <p:sldId id="275" r:id="rId23"/>
    <p:sldId id="27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4F25E9-6CCF-ACFE-D6C9-4AB84C55ACF7}" name="Bram Heyns" initials="BH" userId="S::u0040810@thomasmore.be::7a623cc0-5b6c-43c7-88a0-ff55db19c79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88" y="4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omments/modernComment_10C_E492CB59.xml><?xml version="1.0" encoding="utf-8"?>
<p188:cmLst xmlns:a="http://schemas.openxmlformats.org/drawingml/2006/main" xmlns:r="http://schemas.openxmlformats.org/officeDocument/2006/relationships" xmlns:p188="http://schemas.microsoft.com/office/powerpoint/2018/8/main">
  <p188:cm id="{AE9CD5A5-FEE3-4DA0-9188-3E46EE1BAAF4}" authorId="{B84F25E9-6CCF-ACFE-D6C9-4AB84C55ACF7}" created="2024-10-14T22:09:53.719">
    <pc:sldMkLst xmlns:pc="http://schemas.microsoft.com/office/powerpoint/2013/main/command">
      <pc:docMk/>
      <pc:sldMk cId="3834825561" sldId="268"/>
    </pc:sldMkLst>
    <p188:txBody>
      <a:bodyPr/>
      <a:lstStyle/>
      <a:p>
        <a:r>
          <a:rPr lang="en-US"/>
          <a:t>You should really emphasize the research phase here. There is a lot to research, especailly in the ai part</a:t>
        </a:r>
      </a:p>
    </p188:txBody>
  </p188:cm>
</p188:cmLst>
</file>

<file path=ppt/comments/modernComment_10F_27D466E3.xml><?xml version="1.0" encoding="utf-8"?>
<p188:cmLst xmlns:a="http://schemas.openxmlformats.org/drawingml/2006/main" xmlns:r="http://schemas.openxmlformats.org/officeDocument/2006/relationships" xmlns:p188="http://schemas.microsoft.com/office/powerpoint/2018/8/main">
  <p188:cm id="{E7AE532A-1A08-4413-8E8D-A67FDE38034A}" authorId="{B84F25E9-6CCF-ACFE-D6C9-4AB84C55ACF7}" created="2024-10-14T22:11:51.956">
    <pc:sldMkLst xmlns:pc="http://schemas.microsoft.com/office/powerpoint/2013/main/command">
      <pc:docMk/>
      <pc:sldMk cId="668231395" sldId="271"/>
    </pc:sldMkLst>
    <p188:txBody>
      <a:bodyPr/>
      <a:lstStyle/>
      <a:p>
        <a:r>
          <a:rPr lang="en-US"/>
          <a:t>Pretty good already. Just make it a lot more visual for the client, and less technical. I also don’t see a good moscow in there, so maybe emphasize the must have requirements a lot more</a:t>
        </a:r>
      </a:p>
    </p188:txBody>
  </p188:cm>
</p188:cmLst>
</file>

<file path=ppt/comments/modernComment_102_6F5B4B07.xml><?xml version="1.0" encoding="utf-8"?>
<p188:cmLst xmlns:a="http://schemas.openxmlformats.org/drawingml/2006/main" xmlns:r="http://schemas.openxmlformats.org/officeDocument/2006/relationships" xmlns:p188="http://schemas.microsoft.com/office/powerpoint/2018/8/main">
  <p188:cm id="{30C5D753-ECF6-4AC4-A94B-89D5D1869E08}" authorId="{B84F25E9-6CCF-ACFE-D6C9-4AB84C55ACF7}" created="2024-10-14T22:04:54.055">
    <ac:deMkLst xmlns:ac="http://schemas.microsoft.com/office/drawing/2013/main/command">
      <pc:docMk xmlns:pc="http://schemas.microsoft.com/office/powerpoint/2013/main/command"/>
      <pc:sldMk xmlns:pc="http://schemas.microsoft.com/office/powerpoint/2013/main/command" cId="1868253959" sldId="258"/>
      <ac:spMk id="3" creationId="{A4313305-7BDA-7D2B-7FEF-A21BFFE2AA3E}"/>
    </ac:deMkLst>
    <p188:txBody>
      <a:bodyPr/>
      <a:lstStyle/>
      <a:p>
        <a:r>
          <a:rPr lang="en-US"/>
          <a:t>Maybe zoom in a bit more on possible limitations, so you can better address them</a:t>
        </a:r>
      </a:p>
    </p188:txBody>
  </p188:cm>
</p188:cmLst>
</file>

<file path=ppt/comments/modernComment_105_FB684234.xml><?xml version="1.0" encoding="utf-8"?>
<p188:cmLst xmlns:a="http://schemas.openxmlformats.org/drawingml/2006/main" xmlns:r="http://schemas.openxmlformats.org/officeDocument/2006/relationships" xmlns:p188="http://schemas.microsoft.com/office/powerpoint/2018/8/main">
  <p188:cm id="{4879B62E-025D-402E-94BE-C71A2C03CCDA}" authorId="{B84F25E9-6CCF-ACFE-D6C9-4AB84C55ACF7}" created="2024-10-14T22:05:49.534">
    <pc:sldMkLst xmlns:pc="http://schemas.microsoft.com/office/powerpoint/2013/main/command">
      <pc:docMk/>
      <pc:sldMk cId="4217913908" sldId="261"/>
    </pc:sldMkLst>
    <p188:txBody>
      <a:bodyPr/>
      <a:lstStyle/>
      <a:p>
        <a:r>
          <a:rPr lang="en-US"/>
          <a:t>Okay, but watch out that you don’t go too technical just yet</a:t>
        </a:r>
      </a:p>
    </p188:txBody>
  </p188:cm>
</p188:cmLst>
</file>

<file path=ppt/comments/modernComment_106_6777D3E1.xml><?xml version="1.0" encoding="utf-8"?>
<p188:cmLst xmlns:a="http://schemas.openxmlformats.org/drawingml/2006/main" xmlns:r="http://schemas.openxmlformats.org/officeDocument/2006/relationships" xmlns:p188="http://schemas.microsoft.com/office/powerpoint/2018/8/main">
  <p188:cm id="{C737093A-F04D-4A11-8984-D3B8C4065F7F}" authorId="{B84F25E9-6CCF-ACFE-D6C9-4AB84C55ACF7}" created="2024-10-14T22:06:30.648">
    <pc:sldMkLst xmlns:pc="http://schemas.microsoft.com/office/powerpoint/2013/main/command">
      <pc:docMk/>
      <pc:sldMk cId="1735906273" sldId="262"/>
    </pc:sldMkLst>
    <p188:txBody>
      <a:bodyPr/>
      <a:lstStyle/>
      <a:p>
        <a:r>
          <a:rPr lang="en-US"/>
          <a:t>There are probaly more requirements: like sentiment? Like summarization?</a:t>
        </a:r>
      </a:p>
    </p188:txBody>
  </p188:cm>
</p188:cmLst>
</file>

<file path=ppt/comments/modernComment_107_16AF747B.xml><?xml version="1.0" encoding="utf-8"?>
<p188:cmLst xmlns:a="http://schemas.openxmlformats.org/drawingml/2006/main" xmlns:r="http://schemas.openxmlformats.org/officeDocument/2006/relationships" xmlns:p188="http://schemas.microsoft.com/office/powerpoint/2018/8/main">
  <p188:cm id="{5DFFE40D-8136-471F-8050-8928D46CB4DF}" authorId="{B84F25E9-6CCF-ACFE-D6C9-4AB84C55ACF7}" created="2024-10-14T22:07:39.608">
    <pc:sldMkLst xmlns:pc="http://schemas.microsoft.com/office/powerpoint/2013/main/command">
      <pc:docMk/>
      <pc:sldMk cId="380597371" sldId="263"/>
    </pc:sldMkLst>
    <p188:txBody>
      <a:bodyPr/>
      <a:lstStyle/>
      <a:p>
        <a:r>
          <a:rPr lang="en-US"/>
          <a:t>Maybe think about different (external) API’s you need? For instance: openai? Weather? etc</a:t>
        </a:r>
      </a:p>
    </p188:txBody>
  </p188:cm>
</p188:cmLst>
</file>

<file path=ppt/comments/modernComment_108_B72D16BC.xml><?xml version="1.0" encoding="utf-8"?>
<p188:cmLst xmlns:a="http://schemas.openxmlformats.org/drawingml/2006/main" xmlns:r="http://schemas.openxmlformats.org/officeDocument/2006/relationships" xmlns:p188="http://schemas.microsoft.com/office/powerpoint/2018/8/main">
  <p188:cm id="{2DBA0A83-E0B5-4397-BD95-ABCDE64B7606}" authorId="{B84F25E9-6CCF-ACFE-D6C9-4AB84C55ACF7}" created="2024-10-14T22:08:58.013">
    <pc:sldMkLst xmlns:pc="http://schemas.microsoft.com/office/powerpoint/2013/main/command">
      <pc:docMk/>
      <pc:sldMk cId="3073185468" sldId="264"/>
    </pc:sldMkLst>
    <p188:txBody>
      <a:bodyPr/>
      <a:lstStyle/>
      <a:p>
        <a:r>
          <a:rPr lang="en-US"/>
          <a:t>Okay for internal use, but watch out for going too technical for the client presentation. The objective should be clear, and the different parts that you guys see, but keep it understandable for non-IT people</a:t>
        </a:r>
      </a:p>
    </p188:txBody>
  </p188:cm>
</p188:cmLst>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nl-NL"/>
              <a:t>Klik om stijl te bewerken</a:t>
            </a:r>
            <a:endParaRPr lang="en-US"/>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a:p>
        </p:txBody>
      </p:sp>
      <p:sp>
        <p:nvSpPr>
          <p:cNvPr id="4" name="Date Placeholder 3"/>
          <p:cNvSpPr>
            <a:spLocks noGrp="1"/>
          </p:cNvSpPr>
          <p:nvPr>
            <p:ph type="dt" sz="half" idx="10"/>
          </p:nvPr>
        </p:nvSpPr>
        <p:spPr/>
        <p:txBody>
          <a:bodyPr/>
          <a:lstStyle/>
          <a:p>
            <a:fld id="{78ABE3C1-DBE1-495D-B57B-2849774B866A}" type="datetimeFigureOut">
              <a:rPr lang="en-US" dirty="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12DE42F4-6EEF-4EF7-8ED4-2208F0F89A08}" type="datetimeFigureOut">
              <a:rPr lang="en-US" dirty="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nl-NL"/>
              <a:t>Klik om stijl te bewerken</a:t>
            </a:r>
            <a:endParaRPr lang="en-US"/>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30578ACC-22D6-47C1-A373-4FD133E34F3C}" type="datetimeFigureOut">
              <a:rPr lang="en-US" dirty="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sz="half" idx="1"/>
          </p:nvPr>
        </p:nvSpPr>
        <p:spPr>
          <a:xfrm>
            <a:off x="680320" y="2336873"/>
            <a:ext cx="4698358" cy="3599316"/>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Content Placeholder 3"/>
          <p:cNvSpPr>
            <a:spLocks noGrp="1"/>
          </p:cNvSpPr>
          <p:nvPr>
            <p:ph sz="half" idx="2"/>
          </p:nvPr>
        </p:nvSpPr>
        <p:spPr>
          <a:xfrm>
            <a:off x="5594123" y="2336873"/>
            <a:ext cx="4700058" cy="3599316"/>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Date Placeholder 4"/>
          <p:cNvSpPr>
            <a:spLocks noGrp="1"/>
          </p:cNvSpPr>
          <p:nvPr>
            <p:ph type="dt" sz="half" idx="10"/>
          </p:nvPr>
        </p:nvSpPr>
        <p:spPr/>
        <p:txBody>
          <a:bodyPr/>
          <a:lstStyle/>
          <a:p>
            <a:fld id="{4E5A6C69-6797-4E8A-BF37-F2C3751466E9}" type="datetimeFigureOut">
              <a:rPr lang="en-US" dirty="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nl-NL"/>
              <a:t>Klik om stijl te bewerken</a:t>
            </a:r>
            <a:endParaRPr lang="en-US"/>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680322" y="3030008"/>
            <a:ext cx="4698355" cy="290617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p:cNvSpPr>
            <a:spLocks noGrp="1"/>
          </p:cNvSpPr>
          <p:nvPr>
            <p:ph sz="quarter" idx="4"/>
          </p:nvPr>
        </p:nvSpPr>
        <p:spPr>
          <a:xfrm>
            <a:off x="5594123" y="3030008"/>
            <a:ext cx="4700059" cy="290617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Date Placeholder 6"/>
          <p:cNvSpPr>
            <a:spLocks noGrp="1"/>
          </p:cNvSpPr>
          <p:nvPr>
            <p:ph type="dt" sz="half" idx="10"/>
          </p:nvPr>
        </p:nvSpPr>
        <p:spPr/>
        <p:txBody>
          <a:bodyPr/>
          <a:lstStyle/>
          <a:p>
            <a:fld id="{D82014A1-A632-4878-A0D3-F52BA7563730}" type="datetimeFigureOut">
              <a:rPr lang="en-US" dirty="0"/>
              <a:t>10/14/2024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fld id="{CE99F462-093F-4566-844B-4C71F2739DA5}" type="datetimeFigureOut">
              <a:rPr lang="en-US" dirty="0"/>
              <a:t>10/14/2024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10/14/2024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nl-NL"/>
              <a:t>Klik om stijl te bewerken</a:t>
            </a:r>
            <a:endParaRPr lang="en-US"/>
          </a:p>
        </p:txBody>
      </p:sp>
      <p:sp>
        <p:nvSpPr>
          <p:cNvPr id="3" name="Content Placeholder 2"/>
          <p:cNvSpPr>
            <a:spLocks noGrp="1"/>
          </p:cNvSpPr>
          <p:nvPr>
            <p:ph idx="1"/>
          </p:nvPr>
        </p:nvSpPr>
        <p:spPr>
          <a:xfrm>
            <a:off x="4685846" y="2336873"/>
            <a:ext cx="5608336" cy="359931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E331444B-B92B-4E27-8C94-BB93EAF5CB18}" type="datetimeFigureOut">
              <a:rPr lang="en-US" dirty="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nl-NL"/>
              <a:t>Klik om stijl te bewerken</a:t>
            </a:r>
            <a:endParaRPr lang="en-US"/>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363EFA5E-FA76-400D-B3DC-F0BA90E6D107}" type="datetimeFigureOut">
              <a:rPr lang="en-US" dirty="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sche afbeelding met bijschrif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nl-NL"/>
              <a:t>Klik om stijl te bewerken</a:t>
            </a:r>
            <a:endParaRPr lang="en-US"/>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46C117F-5CCF-4837-BE5F-2B92066CAFAF}" type="datetimeFigureOut">
              <a:rPr lang="en-US" dirty="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en bijschrif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nl-NL"/>
              <a:t>Klik om stijl te bewerken</a:t>
            </a:r>
            <a:endParaRPr lang="en-US"/>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84EB90BD-B6CE-46B7-997F-7313B992CCDC}" type="datetimeFigureOut">
              <a:rPr lang="en-US" dirty="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eraat met bijschrift">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nl-NL"/>
              <a:t>Klik om stijl te bewerken</a:t>
            </a:r>
            <a:endParaRPr lang="en-US"/>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CDB9D11F-B188-461D-B23F-39381795C052}" type="datetimeFigureOut">
              <a:rPr lang="en-US" dirty="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amkaartj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nl-NL"/>
              <a:t>Klik om stijl te bewerken</a:t>
            </a:r>
            <a:endParaRPr lang="en-US"/>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52E6D8D9-55A2-4063-B0F3-121F44549695}" type="datetimeFigureOut">
              <a:rPr lang="en-US" dirty="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omme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nl-NL"/>
              <a:t>Klik om stijl te bewerken</a:t>
            </a:r>
            <a:endParaRPr lang="en-US"/>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p:txBody>
          <a:bodyPr/>
          <a:lstStyle/>
          <a:p>
            <a:fld id="{D4B24536-994D-4021-A283-9F449C0DB509}" type="datetimeFigureOut">
              <a:rPr lang="en-US" dirty="0"/>
              <a:t>10/14/2024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Afbeelding-kolom">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nl-NL"/>
              <a:t>Klik om stijl te bewerken</a:t>
            </a:r>
            <a:endParaRPr lang="en-US"/>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p:txBody>
          <a:bodyPr/>
          <a:lstStyle/>
          <a:p>
            <a:fld id="{3CBBBB78-C96F-47B7-AB17-D852CA960AC9}" type="datetimeFigureOut">
              <a:rPr lang="en-US" dirty="0"/>
              <a:t>10/14/2024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nl-NL"/>
              <a:t>Klik om stijl te bewerken</a:t>
            </a:r>
            <a:endParaRPr lang="en-US"/>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1FA3F48C-C7C6-4055-9F49-3777875E72AE}" type="datetimeFigureOut">
              <a:rPr lang="en-US" dirty="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nl-NL"/>
              <a:t>Klik om stijl te bewerken</a:t>
            </a:r>
            <a:endParaRPr lang="en-US"/>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10/14/2024</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nl-NL"/>
              <a:t>Klik om stijl te bewerken</a:t>
            </a:r>
            <a:endParaRPr lang="en-US"/>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10/14/2024</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2_6F5B4B0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5_FB68423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6_6777D3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7_16AF747B.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08_B72D16BC.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0C_E492CB5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0F_27D466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2BE451-053F-24B0-DBCA-DCBF2AE5D104}"/>
              </a:ext>
            </a:extLst>
          </p:cNvPr>
          <p:cNvSpPr>
            <a:spLocks noGrp="1"/>
          </p:cNvSpPr>
          <p:nvPr>
            <p:ph type="ctrTitle"/>
          </p:nvPr>
        </p:nvSpPr>
        <p:spPr/>
        <p:txBody>
          <a:bodyPr/>
          <a:lstStyle/>
          <a:p>
            <a:r>
              <a:rPr lang="fr-FR" b="1"/>
              <a:t>Frank the Bench</a:t>
            </a:r>
          </a:p>
        </p:txBody>
      </p:sp>
      <p:sp>
        <p:nvSpPr>
          <p:cNvPr id="3" name="Ondertitel 2">
            <a:extLst>
              <a:ext uri="{FF2B5EF4-FFF2-40B4-BE49-F238E27FC236}">
                <a16:creationId xmlns:a16="http://schemas.microsoft.com/office/drawing/2014/main" id="{D24179C0-7464-6A9B-5386-85C5517C0A73}"/>
              </a:ext>
            </a:extLst>
          </p:cNvPr>
          <p:cNvSpPr>
            <a:spLocks noGrp="1"/>
          </p:cNvSpPr>
          <p:nvPr>
            <p:ph type="subTitle" idx="1"/>
          </p:nvPr>
        </p:nvSpPr>
        <p:spPr>
          <a:xfrm>
            <a:off x="680322" y="4394039"/>
            <a:ext cx="8144134" cy="1117687"/>
          </a:xfrm>
        </p:spPr>
        <p:txBody>
          <a:bodyPr vert="horz" lIns="91440" tIns="45720" rIns="91440" bIns="45720" rtlCol="0" anchor="t">
            <a:normAutofit/>
          </a:bodyPr>
          <a:lstStyle/>
          <a:p>
            <a:pPr>
              <a:lnSpc>
                <a:spcPct val="90000"/>
              </a:lnSpc>
              <a:spcBef>
                <a:spcPts val="1000"/>
              </a:spcBef>
            </a:pPr>
            <a:r>
              <a:rPr lang="en-US" sz="1800" b="1"/>
              <a:t>Team Benchmark</a:t>
            </a:r>
          </a:p>
          <a:p>
            <a:pPr>
              <a:lnSpc>
                <a:spcPct val="90000"/>
              </a:lnSpc>
              <a:spcBef>
                <a:spcPts val="1000"/>
              </a:spcBef>
            </a:pPr>
            <a:r>
              <a:rPr lang="fr-FR" sz="1200" b="1"/>
              <a:t>Lorenzo </a:t>
            </a:r>
            <a:r>
              <a:rPr lang="fr-FR" sz="1200" b="1" err="1"/>
              <a:t>Miechielsen</a:t>
            </a:r>
            <a:r>
              <a:rPr lang="fr-FR" sz="1200" b="1"/>
              <a:t>, Maarten Marx, </a:t>
            </a:r>
            <a:r>
              <a:rPr lang="fr-FR" sz="1200" b="1" err="1"/>
              <a:t>Egemen</a:t>
            </a:r>
            <a:r>
              <a:rPr lang="fr-FR" sz="1200" b="1"/>
              <a:t> </a:t>
            </a:r>
            <a:r>
              <a:rPr lang="fr-FR" sz="1200" b="1" err="1"/>
              <a:t>Alkan</a:t>
            </a:r>
            <a:r>
              <a:rPr lang="fr-FR" sz="1200" b="1"/>
              <a:t>, Mark </a:t>
            </a:r>
            <a:r>
              <a:rPr lang="fr-FR" sz="1200" b="1" err="1"/>
              <a:t>Vaikul</a:t>
            </a:r>
            <a:r>
              <a:rPr lang="fr-FR" sz="1200" b="1"/>
              <a:t>, Filip Kolb </a:t>
            </a:r>
            <a:endParaRPr lang="en-US" sz="1200" b="1"/>
          </a:p>
        </p:txBody>
      </p:sp>
      <p:sp>
        <p:nvSpPr>
          <p:cNvPr id="7" name="TextBox 6">
            <a:extLst>
              <a:ext uri="{FF2B5EF4-FFF2-40B4-BE49-F238E27FC236}">
                <a16:creationId xmlns:a16="http://schemas.microsoft.com/office/drawing/2014/main" id="{621D988A-1758-A9A6-86A9-7A0F449E6D6C}"/>
              </a:ext>
            </a:extLst>
          </p:cNvPr>
          <p:cNvSpPr txBox="1"/>
          <p:nvPr/>
        </p:nvSpPr>
        <p:spPr>
          <a:xfrm>
            <a:off x="3408195" y="2992993"/>
            <a:ext cx="544483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Project Plan</a:t>
            </a:r>
            <a:endParaRPr lang="en-US" b="1"/>
          </a:p>
        </p:txBody>
      </p:sp>
    </p:spTree>
    <p:extLst>
      <p:ext uri="{BB962C8B-B14F-4D97-AF65-F5344CB8AC3E}">
        <p14:creationId xmlns:p14="http://schemas.microsoft.com/office/powerpoint/2010/main" val="3315305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497955-8510-5497-BC5C-DA6528BDF8BC}"/>
              </a:ext>
            </a:extLst>
          </p:cNvPr>
          <p:cNvSpPr>
            <a:spLocks noGrp="1"/>
          </p:cNvSpPr>
          <p:nvPr>
            <p:ph type="title"/>
          </p:nvPr>
        </p:nvSpPr>
        <p:spPr/>
        <p:txBody>
          <a:bodyPr/>
          <a:lstStyle/>
          <a:p>
            <a:r>
              <a:rPr lang="nl-NL"/>
              <a:t>Summary </a:t>
            </a:r>
          </a:p>
        </p:txBody>
      </p:sp>
      <p:sp>
        <p:nvSpPr>
          <p:cNvPr id="3" name="Tijdelijke aanduiding voor inhoud 2">
            <a:extLst>
              <a:ext uri="{FF2B5EF4-FFF2-40B4-BE49-F238E27FC236}">
                <a16:creationId xmlns:a16="http://schemas.microsoft.com/office/drawing/2014/main" id="{2DDEE22E-C5A7-AFFA-0B6D-390339DEF4AF}"/>
              </a:ext>
            </a:extLst>
          </p:cNvPr>
          <p:cNvSpPr>
            <a:spLocks noGrp="1"/>
          </p:cNvSpPr>
          <p:nvPr>
            <p:ph idx="1"/>
          </p:nvPr>
        </p:nvSpPr>
        <p:spPr/>
        <p:txBody>
          <a:bodyPr vert="horz" lIns="91440" tIns="45720" rIns="91440" bIns="45720" rtlCol="0" anchor="t">
            <a:normAutofit/>
          </a:bodyPr>
          <a:lstStyle/>
          <a:p>
            <a:r>
              <a:rPr lang="en-GB"/>
              <a:t>Background</a:t>
            </a:r>
          </a:p>
          <a:p>
            <a:r>
              <a:rPr lang="en-GB"/>
              <a:t>Objective</a:t>
            </a:r>
          </a:p>
          <a:p>
            <a:r>
              <a:rPr lang="en-GB"/>
              <a:t>Business case</a:t>
            </a:r>
          </a:p>
          <a:p>
            <a:r>
              <a:rPr lang="en-GB"/>
              <a:t>Timeline</a:t>
            </a:r>
          </a:p>
          <a:p>
            <a:r>
              <a:rPr lang="en-GB"/>
              <a:t>Project scope and Risks</a:t>
            </a:r>
          </a:p>
          <a:p>
            <a:r>
              <a:rPr lang="en-GB"/>
              <a:t>Reporting &amp; Information</a:t>
            </a:r>
          </a:p>
          <a:p>
            <a:r>
              <a:rPr lang="en-GB"/>
              <a:t>Project Team</a:t>
            </a:r>
          </a:p>
          <a:p>
            <a:endParaRPr lang="nl-NL"/>
          </a:p>
          <a:p>
            <a:endParaRPr lang="nl-NL"/>
          </a:p>
        </p:txBody>
      </p:sp>
    </p:spTree>
    <p:extLst>
      <p:ext uri="{BB962C8B-B14F-4D97-AF65-F5344CB8AC3E}">
        <p14:creationId xmlns:p14="http://schemas.microsoft.com/office/powerpoint/2010/main" val="167322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3851D-47D1-6FEF-C51F-61671859A6BE}"/>
              </a:ext>
            </a:extLst>
          </p:cNvPr>
          <p:cNvSpPr>
            <a:spLocks noGrp="1"/>
          </p:cNvSpPr>
          <p:nvPr>
            <p:ph type="title"/>
          </p:nvPr>
        </p:nvSpPr>
        <p:spPr/>
        <p:txBody>
          <a:bodyPr/>
          <a:lstStyle/>
          <a:p>
            <a:r>
              <a:rPr lang="en-US"/>
              <a:t>Background</a:t>
            </a:r>
          </a:p>
        </p:txBody>
      </p:sp>
      <p:sp>
        <p:nvSpPr>
          <p:cNvPr id="3" name="Content Placeholder 2">
            <a:extLst>
              <a:ext uri="{FF2B5EF4-FFF2-40B4-BE49-F238E27FC236}">
                <a16:creationId xmlns:a16="http://schemas.microsoft.com/office/drawing/2014/main" id="{A4313305-7BDA-7D2B-7FEF-A21BFFE2AA3E}"/>
              </a:ext>
            </a:extLst>
          </p:cNvPr>
          <p:cNvSpPr>
            <a:spLocks noGrp="1"/>
          </p:cNvSpPr>
          <p:nvPr>
            <p:ph idx="1"/>
          </p:nvPr>
        </p:nvSpPr>
        <p:spPr/>
        <p:txBody>
          <a:bodyPr vert="horz" lIns="91440" tIns="45720" rIns="91440" bIns="45720" rtlCol="0" anchor="t">
            <a:normAutofit/>
          </a:bodyPr>
          <a:lstStyle/>
          <a:p>
            <a:r>
              <a:rPr lang="en-US" dirty="0"/>
              <a:t>Company: </a:t>
            </a:r>
            <a:r>
              <a:rPr lang="en-US" dirty="0">
                <a:ea typeface="+mn-lt"/>
                <a:cs typeface="+mn-lt"/>
              </a:rPr>
              <a:t>RURANT </a:t>
            </a:r>
            <a:endParaRPr lang="en-US" dirty="0"/>
          </a:p>
          <a:p>
            <a:pPr lvl="1">
              <a:buFont typeface="Courier New" panose="020B0604020202020204" pitchFamily="34" charset="0"/>
              <a:buChar char="o"/>
            </a:pPr>
            <a:r>
              <a:rPr lang="en-US" dirty="0">
                <a:ea typeface="+mn-lt"/>
                <a:cs typeface="+mn-lt"/>
              </a:rPr>
              <a:t>Location: Antwerp, Belgium</a:t>
            </a:r>
          </a:p>
          <a:p>
            <a:pPr lvl="1">
              <a:buFont typeface="Courier New" panose="020B0604020202020204" pitchFamily="34" charset="0"/>
              <a:buChar char="o"/>
            </a:pPr>
            <a:r>
              <a:rPr lang="en-US" dirty="0">
                <a:ea typeface="+mn-lt"/>
                <a:cs typeface="+mn-lt"/>
              </a:rPr>
              <a:t>Mission: Supporting sustainable rural initiatives by promoting local agriculture, entrepreneurship, and community engagement.</a:t>
            </a:r>
            <a:endParaRPr lang="en-US" sz="2400" dirty="0"/>
          </a:p>
          <a:p>
            <a:r>
              <a:rPr lang="en-US" dirty="0"/>
              <a:t>Problem Statement:</a:t>
            </a:r>
          </a:p>
          <a:p>
            <a:pPr lvl="1">
              <a:buFont typeface="Courier New" panose="020B0604020202020204" pitchFamily="34" charset="0"/>
              <a:buChar char="o"/>
            </a:pPr>
            <a:r>
              <a:rPr lang="en-US" dirty="0">
                <a:ea typeface="+mn-lt"/>
                <a:cs typeface="+mn-lt"/>
              </a:rPr>
              <a:t>The organization can’t gather all people from the village to complete surveys and answer questions, due to language barriers, time limitations, limited accessibility, etc.</a:t>
            </a:r>
          </a:p>
          <a:p>
            <a:pPr marL="0" indent="0">
              <a:buNone/>
            </a:pPr>
            <a:endParaRPr lang="en-US" dirty="0"/>
          </a:p>
        </p:txBody>
      </p:sp>
    </p:spTree>
    <p:extLst>
      <p:ext uri="{BB962C8B-B14F-4D97-AF65-F5344CB8AC3E}">
        <p14:creationId xmlns:p14="http://schemas.microsoft.com/office/powerpoint/2010/main" val="1868253959"/>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3851D-47D1-6FEF-C51F-61671859A6BE}"/>
              </a:ext>
            </a:extLst>
          </p:cNvPr>
          <p:cNvSpPr>
            <a:spLocks noGrp="1"/>
          </p:cNvSpPr>
          <p:nvPr>
            <p:ph type="title"/>
          </p:nvPr>
        </p:nvSpPr>
        <p:spPr/>
        <p:txBody>
          <a:bodyPr/>
          <a:lstStyle/>
          <a:p>
            <a:r>
              <a:rPr lang="en-US"/>
              <a:t>Objective</a:t>
            </a:r>
          </a:p>
        </p:txBody>
      </p:sp>
      <p:sp>
        <p:nvSpPr>
          <p:cNvPr id="3" name="Content Placeholder 2">
            <a:extLst>
              <a:ext uri="{FF2B5EF4-FFF2-40B4-BE49-F238E27FC236}">
                <a16:creationId xmlns:a16="http://schemas.microsoft.com/office/drawing/2014/main" id="{A4313305-7BDA-7D2B-7FEF-A21BFFE2AA3E}"/>
              </a:ext>
            </a:extLst>
          </p:cNvPr>
          <p:cNvSpPr>
            <a:spLocks noGrp="1"/>
          </p:cNvSpPr>
          <p:nvPr>
            <p:ph idx="1"/>
          </p:nvPr>
        </p:nvSpPr>
        <p:spPr/>
        <p:txBody>
          <a:bodyPr vert="horz" lIns="91440" tIns="45720" rIns="91440" bIns="45720" rtlCol="0" anchor="t">
            <a:normAutofit/>
          </a:bodyPr>
          <a:lstStyle/>
          <a:p>
            <a:r>
              <a:rPr lang="en-US"/>
              <a:t>Frank the Bench:</a:t>
            </a:r>
          </a:p>
          <a:p>
            <a:pPr lvl="1"/>
            <a:r>
              <a:rPr lang="en-US"/>
              <a:t>Breaching language barrier</a:t>
            </a:r>
          </a:p>
          <a:p>
            <a:pPr lvl="1"/>
            <a:r>
              <a:rPr lang="en-US"/>
              <a:t>Improving Accessibility</a:t>
            </a:r>
          </a:p>
          <a:p>
            <a:pPr lvl="1"/>
            <a:r>
              <a:rPr lang="en-US"/>
              <a:t>Improving Availability</a:t>
            </a:r>
          </a:p>
          <a:p>
            <a:pPr marL="0" indent="0">
              <a:buNone/>
            </a:pPr>
            <a:endParaRPr lang="en-US"/>
          </a:p>
          <a:p>
            <a:pPr marL="0" indent="0">
              <a:buNone/>
            </a:pPr>
            <a:r>
              <a:rPr lang="en-US"/>
              <a:t>→ Streamlining collection of public opinion</a:t>
            </a:r>
          </a:p>
          <a:p>
            <a:pPr lvl="2"/>
            <a:endParaRPr lang="en-US"/>
          </a:p>
          <a:p>
            <a:pPr lvl="2"/>
            <a:endParaRPr lang="en-US"/>
          </a:p>
          <a:p>
            <a:pPr marL="0" indent="0">
              <a:buNone/>
            </a:pPr>
            <a:endParaRPr lang="en-US"/>
          </a:p>
        </p:txBody>
      </p:sp>
    </p:spTree>
    <p:extLst>
      <p:ext uri="{BB962C8B-B14F-4D97-AF65-F5344CB8AC3E}">
        <p14:creationId xmlns:p14="http://schemas.microsoft.com/office/powerpoint/2010/main" val="1777552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083F09-8E28-A74B-EBD5-FC004A9DA570}"/>
              </a:ext>
            </a:extLst>
          </p:cNvPr>
          <p:cNvSpPr>
            <a:spLocks noGrp="1"/>
          </p:cNvSpPr>
          <p:nvPr>
            <p:ph type="title"/>
          </p:nvPr>
        </p:nvSpPr>
        <p:spPr/>
        <p:txBody>
          <a:bodyPr/>
          <a:lstStyle/>
          <a:p>
            <a:r>
              <a:rPr lang="nl-NL" err="1"/>
              <a:t>Objective</a:t>
            </a:r>
          </a:p>
        </p:txBody>
      </p:sp>
      <p:sp>
        <p:nvSpPr>
          <p:cNvPr id="3" name="Tijdelijke aanduiding voor inhoud 2">
            <a:extLst>
              <a:ext uri="{FF2B5EF4-FFF2-40B4-BE49-F238E27FC236}">
                <a16:creationId xmlns:a16="http://schemas.microsoft.com/office/drawing/2014/main" id="{CE97E471-8478-39E7-6DBC-F8C8589D5BF6}"/>
              </a:ext>
            </a:extLst>
          </p:cNvPr>
          <p:cNvSpPr>
            <a:spLocks noGrp="1"/>
          </p:cNvSpPr>
          <p:nvPr>
            <p:ph idx="1"/>
          </p:nvPr>
        </p:nvSpPr>
        <p:spPr/>
        <p:txBody>
          <a:bodyPr vert="horz" lIns="91440" tIns="45720" rIns="91440" bIns="45720" rtlCol="0" anchor="t">
            <a:normAutofit/>
          </a:bodyPr>
          <a:lstStyle/>
          <a:p>
            <a:r>
              <a:rPr lang="en-GB"/>
              <a:t>Hardware Requirements:</a:t>
            </a:r>
          </a:p>
          <a:p>
            <a:pPr lvl="1">
              <a:buFont typeface="Courier New" panose="020B0604020202020204" pitchFamily="34" charset="0"/>
              <a:buChar char="o"/>
            </a:pPr>
            <a:r>
              <a:rPr lang="en-GB"/>
              <a:t>Microprocessor (i.e. Raspberry Pi)</a:t>
            </a:r>
          </a:p>
          <a:p>
            <a:pPr lvl="1">
              <a:buFont typeface="Courier New" panose="020B0604020202020204" pitchFamily="34" charset="0"/>
              <a:buChar char="o"/>
            </a:pPr>
            <a:r>
              <a:rPr lang="en-GB"/>
              <a:t>Microphones</a:t>
            </a:r>
          </a:p>
          <a:p>
            <a:pPr lvl="1">
              <a:buFont typeface="Courier New" panose="020B0604020202020204" pitchFamily="34" charset="0"/>
              <a:buChar char="o"/>
            </a:pPr>
            <a:r>
              <a:rPr lang="en-GB"/>
              <a:t>Speakers</a:t>
            </a:r>
          </a:p>
          <a:p>
            <a:pPr lvl="1">
              <a:buFont typeface="Courier New" panose="020B0604020202020204" pitchFamily="34" charset="0"/>
              <a:buChar char="o"/>
            </a:pPr>
            <a:r>
              <a:rPr lang="en-GB"/>
              <a:t>Pressure sensors</a:t>
            </a:r>
          </a:p>
          <a:p>
            <a:pPr lvl="1">
              <a:buFont typeface="Courier New" panose="020B0604020202020204" pitchFamily="34" charset="0"/>
              <a:buChar char="o"/>
            </a:pPr>
            <a:r>
              <a:rPr lang="en-GB"/>
              <a:t>Camera or motion sensor</a:t>
            </a:r>
          </a:p>
          <a:p>
            <a:pPr lvl="1">
              <a:buFont typeface="Courier New" panose="020B0604020202020204" pitchFamily="34" charset="0"/>
              <a:buChar char="o"/>
            </a:pPr>
            <a:r>
              <a:rPr lang="en-GB"/>
              <a:t>4G connection</a:t>
            </a:r>
          </a:p>
          <a:p>
            <a:pPr lvl="1">
              <a:buFont typeface="Courier New" panose="020B0604020202020204" pitchFamily="34" charset="0"/>
              <a:buChar char="o"/>
            </a:pPr>
            <a:r>
              <a:rPr lang="en-GB"/>
              <a:t>Power supply</a:t>
            </a:r>
          </a:p>
          <a:p>
            <a:pPr lvl="1">
              <a:buFont typeface="Courier New" panose="020B0604020202020204" pitchFamily="34" charset="0"/>
              <a:buChar char="o"/>
            </a:pPr>
            <a:endParaRPr lang="nl-NL"/>
          </a:p>
        </p:txBody>
      </p:sp>
    </p:spTree>
    <p:extLst>
      <p:ext uri="{BB962C8B-B14F-4D97-AF65-F5344CB8AC3E}">
        <p14:creationId xmlns:p14="http://schemas.microsoft.com/office/powerpoint/2010/main" val="4217913908"/>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877C52-4E6B-32B2-4408-0A16B93A7BC4}"/>
              </a:ext>
            </a:extLst>
          </p:cNvPr>
          <p:cNvSpPr>
            <a:spLocks noGrp="1"/>
          </p:cNvSpPr>
          <p:nvPr>
            <p:ph type="title"/>
          </p:nvPr>
        </p:nvSpPr>
        <p:spPr/>
        <p:txBody>
          <a:bodyPr/>
          <a:lstStyle/>
          <a:p>
            <a:r>
              <a:rPr lang="nl-NL"/>
              <a:t>Objective</a:t>
            </a:r>
          </a:p>
        </p:txBody>
      </p:sp>
      <p:sp>
        <p:nvSpPr>
          <p:cNvPr id="3" name="Tijdelijke aanduiding voor inhoud 2">
            <a:extLst>
              <a:ext uri="{FF2B5EF4-FFF2-40B4-BE49-F238E27FC236}">
                <a16:creationId xmlns:a16="http://schemas.microsoft.com/office/drawing/2014/main" id="{6E818FB3-FE96-3E5A-4383-3E0BDC46FA6C}"/>
              </a:ext>
            </a:extLst>
          </p:cNvPr>
          <p:cNvSpPr>
            <a:spLocks noGrp="1"/>
          </p:cNvSpPr>
          <p:nvPr>
            <p:ph idx="1"/>
          </p:nvPr>
        </p:nvSpPr>
        <p:spPr/>
        <p:txBody>
          <a:bodyPr vert="horz" lIns="91440" tIns="45720" rIns="91440" bIns="45720" rtlCol="0" anchor="t">
            <a:normAutofit/>
          </a:bodyPr>
          <a:lstStyle/>
          <a:p>
            <a:r>
              <a:rPr lang="nl-NL"/>
              <a:t>AI </a:t>
            </a:r>
            <a:r>
              <a:rPr lang="en-GB"/>
              <a:t>Requirements</a:t>
            </a:r>
            <a:r>
              <a:rPr lang="nl-NL"/>
              <a:t>:</a:t>
            </a:r>
          </a:p>
          <a:p>
            <a:pPr lvl="1">
              <a:buFont typeface="Courier New" panose="020B0604020202020204" pitchFamily="34" charset="0"/>
              <a:buChar char="o"/>
            </a:pPr>
            <a:r>
              <a:rPr lang="en-GB"/>
              <a:t>Language models</a:t>
            </a:r>
          </a:p>
          <a:p>
            <a:pPr lvl="1">
              <a:buFont typeface="Courier New" panose="020B0604020202020204" pitchFamily="34" charset="0"/>
              <a:buChar char="o"/>
            </a:pPr>
            <a:r>
              <a:rPr lang="en-GB"/>
              <a:t>Speech recognition</a:t>
            </a:r>
          </a:p>
          <a:p>
            <a:pPr lvl="1">
              <a:buFont typeface="Courier New" panose="020B0604020202020204" pitchFamily="34" charset="0"/>
              <a:buChar char="o"/>
            </a:pPr>
            <a:r>
              <a:rPr lang="en-GB"/>
              <a:t>Text to speech</a:t>
            </a:r>
          </a:p>
          <a:p>
            <a:pPr lvl="1">
              <a:buFont typeface="Courier New" panose="020B0604020202020204" pitchFamily="34" charset="0"/>
              <a:buChar char="o"/>
            </a:pPr>
            <a:r>
              <a:rPr lang="en-GB"/>
              <a:t>Classification</a:t>
            </a:r>
          </a:p>
          <a:p>
            <a:pPr lvl="1">
              <a:buFont typeface="Courier New" panose="020B0604020202020204" pitchFamily="34" charset="0"/>
              <a:buChar char="o"/>
            </a:pPr>
            <a:r>
              <a:rPr lang="en-GB"/>
              <a:t>Bench personality</a:t>
            </a:r>
          </a:p>
          <a:p>
            <a:pPr lvl="1">
              <a:buFont typeface="Courier New" panose="020B0604020202020204" pitchFamily="34" charset="0"/>
              <a:buChar char="o"/>
            </a:pPr>
            <a:endParaRPr lang="nl-NL"/>
          </a:p>
        </p:txBody>
      </p:sp>
    </p:spTree>
    <p:extLst>
      <p:ext uri="{BB962C8B-B14F-4D97-AF65-F5344CB8AC3E}">
        <p14:creationId xmlns:p14="http://schemas.microsoft.com/office/powerpoint/2010/main" val="1735906273"/>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877C52-4E6B-32B2-4408-0A16B93A7BC4}"/>
              </a:ext>
            </a:extLst>
          </p:cNvPr>
          <p:cNvSpPr>
            <a:spLocks noGrp="1"/>
          </p:cNvSpPr>
          <p:nvPr>
            <p:ph type="title"/>
          </p:nvPr>
        </p:nvSpPr>
        <p:spPr/>
        <p:txBody>
          <a:bodyPr/>
          <a:lstStyle/>
          <a:p>
            <a:r>
              <a:rPr lang="en-GB"/>
              <a:t>Objective</a:t>
            </a:r>
          </a:p>
        </p:txBody>
      </p:sp>
      <p:sp>
        <p:nvSpPr>
          <p:cNvPr id="3" name="Tijdelijke aanduiding voor inhoud 2">
            <a:extLst>
              <a:ext uri="{FF2B5EF4-FFF2-40B4-BE49-F238E27FC236}">
                <a16:creationId xmlns:a16="http://schemas.microsoft.com/office/drawing/2014/main" id="{6E818FB3-FE96-3E5A-4383-3E0BDC46FA6C}"/>
              </a:ext>
            </a:extLst>
          </p:cNvPr>
          <p:cNvSpPr>
            <a:spLocks noGrp="1"/>
          </p:cNvSpPr>
          <p:nvPr>
            <p:ph idx="1"/>
          </p:nvPr>
        </p:nvSpPr>
        <p:spPr/>
        <p:txBody>
          <a:bodyPr vert="horz" lIns="91440" tIns="45720" rIns="91440" bIns="45720" rtlCol="0" anchor="t">
            <a:normAutofit/>
          </a:bodyPr>
          <a:lstStyle/>
          <a:p>
            <a:r>
              <a:rPr lang="en-GB"/>
              <a:t>Cloud Requirements:</a:t>
            </a:r>
          </a:p>
          <a:p>
            <a:pPr lvl="1">
              <a:buFont typeface="Courier New" panose="020B0604020202020204" pitchFamily="34" charset="0"/>
              <a:buChar char="o"/>
            </a:pPr>
            <a:r>
              <a:rPr lang="en-GB"/>
              <a:t>Database (i.e. MongoDB, MySQL)</a:t>
            </a:r>
          </a:p>
          <a:p>
            <a:pPr lvl="1">
              <a:buFont typeface="Courier New" panose="020B0604020202020204" pitchFamily="34" charset="0"/>
              <a:buChar char="o"/>
            </a:pPr>
            <a:r>
              <a:rPr lang="en-GB"/>
              <a:t>Web Hosting</a:t>
            </a:r>
          </a:p>
          <a:p>
            <a:pPr lvl="1">
              <a:buFont typeface="Courier New" panose="020B0604020202020204" pitchFamily="34" charset="0"/>
              <a:buChar char="o"/>
            </a:pPr>
            <a:r>
              <a:rPr lang="en-GB"/>
              <a:t>API Hosting</a:t>
            </a:r>
          </a:p>
          <a:p>
            <a:pPr lvl="1">
              <a:buFont typeface="Courier New" panose="020B0604020202020204" pitchFamily="34" charset="0"/>
              <a:buChar char="o"/>
            </a:pPr>
            <a:r>
              <a:rPr lang="en-GB"/>
              <a:t>CI/CD Pipeline</a:t>
            </a:r>
          </a:p>
          <a:p>
            <a:pPr lvl="1">
              <a:buFont typeface="Courier New" panose="020B0604020202020204" pitchFamily="34" charset="0"/>
              <a:buChar char="o"/>
            </a:pPr>
            <a:endParaRPr lang="en-GB"/>
          </a:p>
        </p:txBody>
      </p:sp>
    </p:spTree>
    <p:extLst>
      <p:ext uri="{BB962C8B-B14F-4D97-AF65-F5344CB8AC3E}">
        <p14:creationId xmlns:p14="http://schemas.microsoft.com/office/powerpoint/2010/main" val="380597371"/>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877C52-4E6B-32B2-4408-0A16B93A7BC4}"/>
              </a:ext>
            </a:extLst>
          </p:cNvPr>
          <p:cNvSpPr>
            <a:spLocks noGrp="1"/>
          </p:cNvSpPr>
          <p:nvPr>
            <p:ph type="title"/>
          </p:nvPr>
        </p:nvSpPr>
        <p:spPr/>
        <p:txBody>
          <a:bodyPr/>
          <a:lstStyle/>
          <a:p>
            <a:r>
              <a:rPr lang="nl-NL" err="1"/>
              <a:t>Objective</a:t>
            </a:r>
          </a:p>
        </p:txBody>
      </p:sp>
      <p:sp>
        <p:nvSpPr>
          <p:cNvPr id="3" name="Tijdelijke aanduiding voor inhoud 2">
            <a:extLst>
              <a:ext uri="{FF2B5EF4-FFF2-40B4-BE49-F238E27FC236}">
                <a16:creationId xmlns:a16="http://schemas.microsoft.com/office/drawing/2014/main" id="{6E818FB3-FE96-3E5A-4383-3E0BDC46FA6C}"/>
              </a:ext>
            </a:extLst>
          </p:cNvPr>
          <p:cNvSpPr>
            <a:spLocks noGrp="1"/>
          </p:cNvSpPr>
          <p:nvPr>
            <p:ph idx="1"/>
          </p:nvPr>
        </p:nvSpPr>
        <p:spPr/>
        <p:txBody>
          <a:bodyPr vert="horz" lIns="91440" tIns="45720" rIns="91440" bIns="45720" rtlCol="0" anchor="t">
            <a:normAutofit/>
          </a:bodyPr>
          <a:lstStyle/>
          <a:p>
            <a:r>
              <a:rPr lang="en-GB"/>
              <a:t>Software Requirements:</a:t>
            </a:r>
          </a:p>
          <a:p>
            <a:pPr lvl="1">
              <a:buFont typeface="Courier New" panose="020B0604020202020204" pitchFamily="34" charset="0"/>
              <a:buChar char="o"/>
            </a:pPr>
            <a:r>
              <a:rPr lang="en-GB"/>
              <a:t>API</a:t>
            </a:r>
          </a:p>
          <a:p>
            <a:pPr lvl="1">
              <a:buFont typeface="Courier New" panose="020B0604020202020204" pitchFamily="34" charset="0"/>
              <a:buChar char="o"/>
            </a:pPr>
            <a:r>
              <a:rPr lang="en-GB"/>
              <a:t>Dashboard</a:t>
            </a:r>
          </a:p>
          <a:p>
            <a:pPr lvl="2">
              <a:buFont typeface="Wingdings" panose="020B0604020202020204" pitchFamily="34" charset="0"/>
              <a:buChar char="§"/>
            </a:pPr>
            <a:r>
              <a:rPr lang="en-GB"/>
              <a:t>Overview questions/answers</a:t>
            </a:r>
          </a:p>
          <a:p>
            <a:pPr lvl="2">
              <a:buFont typeface="Wingdings" panose="020B0604020202020204" pitchFamily="34" charset="0"/>
              <a:buChar char="§"/>
            </a:pPr>
            <a:r>
              <a:rPr lang="en-GB"/>
              <a:t>Login</a:t>
            </a:r>
          </a:p>
          <a:p>
            <a:pPr lvl="2">
              <a:buFont typeface="Wingdings" panose="020B0604020202020204" pitchFamily="34" charset="0"/>
              <a:buChar char="§"/>
            </a:pPr>
            <a:r>
              <a:rPr lang="en-GB"/>
              <a:t>CRUD questions/topics</a:t>
            </a:r>
          </a:p>
          <a:p>
            <a:pPr lvl="2">
              <a:buFont typeface="Wingdings" panose="020B0604020202020204" pitchFamily="34" charset="0"/>
              <a:buChar char="§"/>
            </a:pPr>
            <a:r>
              <a:rPr lang="en-GB"/>
              <a:t>Activation/deactivation bench</a:t>
            </a:r>
          </a:p>
          <a:p>
            <a:pPr lvl="1">
              <a:buFont typeface="Courier New" panose="020B0604020202020204" pitchFamily="34" charset="0"/>
              <a:buChar char="o"/>
            </a:pPr>
            <a:r>
              <a:rPr lang="en-GB"/>
              <a:t>Code for microprocessor</a:t>
            </a:r>
          </a:p>
          <a:p>
            <a:pPr lvl="1">
              <a:buFont typeface="Courier New" panose="020B0604020202020204" pitchFamily="34" charset="0"/>
              <a:buChar char="o"/>
            </a:pPr>
            <a:endParaRPr lang="nl-NL"/>
          </a:p>
        </p:txBody>
      </p:sp>
    </p:spTree>
    <p:extLst>
      <p:ext uri="{BB962C8B-B14F-4D97-AF65-F5344CB8AC3E}">
        <p14:creationId xmlns:p14="http://schemas.microsoft.com/office/powerpoint/2010/main" val="3073185468"/>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808A1-E8B9-5197-826D-4302A938709C}"/>
              </a:ext>
            </a:extLst>
          </p:cNvPr>
          <p:cNvSpPr>
            <a:spLocks noGrp="1"/>
          </p:cNvSpPr>
          <p:nvPr>
            <p:ph type="title"/>
          </p:nvPr>
        </p:nvSpPr>
        <p:spPr/>
        <p:txBody>
          <a:bodyPr/>
          <a:lstStyle/>
          <a:p>
            <a:r>
              <a:rPr lang="en-GB"/>
              <a:t>Business case</a:t>
            </a:r>
            <a:endParaRPr lang="en-US"/>
          </a:p>
        </p:txBody>
      </p:sp>
      <p:sp>
        <p:nvSpPr>
          <p:cNvPr id="3" name="Content Placeholder 2">
            <a:extLst>
              <a:ext uri="{FF2B5EF4-FFF2-40B4-BE49-F238E27FC236}">
                <a16:creationId xmlns:a16="http://schemas.microsoft.com/office/drawing/2014/main" id="{ED47D942-3F55-C37E-C497-13F45DDA0A41}"/>
              </a:ext>
            </a:extLst>
          </p:cNvPr>
          <p:cNvSpPr>
            <a:spLocks noGrp="1"/>
          </p:cNvSpPr>
          <p:nvPr>
            <p:ph idx="1"/>
          </p:nvPr>
        </p:nvSpPr>
        <p:spPr/>
        <p:txBody>
          <a:bodyPr vert="horz" lIns="91440" tIns="45720" rIns="91440" bIns="45720" rtlCol="0" anchor="t">
            <a:normAutofit/>
          </a:bodyPr>
          <a:lstStyle/>
          <a:p>
            <a:r>
              <a:rPr lang="en-GB" b="1">
                <a:ea typeface="+mn-lt"/>
                <a:cs typeface="+mn-lt"/>
              </a:rPr>
              <a:t>Added Value</a:t>
            </a:r>
            <a:r>
              <a:rPr lang="en-GB">
                <a:ea typeface="+mn-lt"/>
                <a:cs typeface="+mn-lt"/>
              </a:rPr>
              <a:t>:</a:t>
            </a:r>
            <a:endParaRPr lang="en-GB"/>
          </a:p>
          <a:p>
            <a:pPr lvl="1">
              <a:buFont typeface="Courier New" panose="020B0604020202020204" pitchFamily="34" charset="0"/>
              <a:buChar char="o"/>
            </a:pPr>
            <a:r>
              <a:rPr lang="en-GB" b="1">
                <a:ea typeface="+mn-lt"/>
                <a:cs typeface="+mn-lt"/>
              </a:rPr>
              <a:t>For </a:t>
            </a:r>
            <a:r>
              <a:rPr lang="en-GB" b="1" err="1">
                <a:ea typeface="+mn-lt"/>
                <a:cs typeface="+mn-lt"/>
              </a:rPr>
              <a:t>Rurant</a:t>
            </a:r>
            <a:r>
              <a:rPr lang="en-GB" b="1">
                <a:ea typeface="+mn-lt"/>
                <a:cs typeface="+mn-lt"/>
              </a:rPr>
              <a:t> and local governments</a:t>
            </a:r>
            <a:r>
              <a:rPr lang="en-GB">
                <a:ea typeface="+mn-lt"/>
                <a:cs typeface="+mn-lt"/>
              </a:rPr>
              <a:t>: Gathers real-time feedback on village life (housing, loneliness, poverty).</a:t>
            </a:r>
            <a:endParaRPr lang="en-GB"/>
          </a:p>
          <a:p>
            <a:pPr lvl="1">
              <a:buFont typeface="Courier New" panose="020B0604020202020204" pitchFamily="34" charset="0"/>
              <a:buChar char="o"/>
            </a:pPr>
            <a:r>
              <a:rPr lang="en-GB" b="1">
                <a:ea typeface="+mn-lt"/>
                <a:cs typeface="+mn-lt"/>
              </a:rPr>
              <a:t>For Villagers</a:t>
            </a:r>
            <a:r>
              <a:rPr lang="en-GB">
                <a:ea typeface="+mn-lt"/>
                <a:cs typeface="+mn-lt"/>
              </a:rPr>
              <a:t>: Provides a platform for residents to voice opinions and share suggestions in a non-intrusive, accessible way.</a:t>
            </a:r>
            <a:endParaRPr lang="en-GB"/>
          </a:p>
          <a:p>
            <a:pPr lvl="1">
              <a:buFont typeface="Courier New" panose="020B0604020202020204" pitchFamily="34" charset="0"/>
              <a:buChar char="o"/>
            </a:pPr>
            <a:r>
              <a:rPr lang="en-GB" b="1">
                <a:ea typeface="+mn-lt"/>
                <a:cs typeface="+mn-lt"/>
              </a:rPr>
              <a:t>For the Project</a:t>
            </a:r>
            <a:r>
              <a:rPr lang="en-GB">
                <a:ea typeface="+mn-lt"/>
                <a:cs typeface="+mn-lt"/>
              </a:rPr>
              <a:t>: Helps improve village policies based on real data from villagers.</a:t>
            </a:r>
            <a:endParaRPr lang="en-GB"/>
          </a:p>
          <a:p>
            <a:endParaRPr lang="en-GB"/>
          </a:p>
        </p:txBody>
      </p:sp>
    </p:spTree>
    <p:extLst>
      <p:ext uri="{BB962C8B-B14F-4D97-AF65-F5344CB8AC3E}">
        <p14:creationId xmlns:p14="http://schemas.microsoft.com/office/powerpoint/2010/main" val="2231980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808A1-E8B9-5197-826D-4302A938709C}"/>
              </a:ext>
            </a:extLst>
          </p:cNvPr>
          <p:cNvSpPr>
            <a:spLocks noGrp="1"/>
          </p:cNvSpPr>
          <p:nvPr>
            <p:ph type="title"/>
          </p:nvPr>
        </p:nvSpPr>
        <p:spPr/>
        <p:txBody>
          <a:bodyPr/>
          <a:lstStyle/>
          <a:p>
            <a:r>
              <a:rPr lang="en-GB"/>
              <a:t>Business case</a:t>
            </a:r>
            <a:endParaRPr lang="en-US"/>
          </a:p>
        </p:txBody>
      </p:sp>
      <p:sp>
        <p:nvSpPr>
          <p:cNvPr id="3" name="Content Placeholder 2">
            <a:extLst>
              <a:ext uri="{FF2B5EF4-FFF2-40B4-BE49-F238E27FC236}">
                <a16:creationId xmlns:a16="http://schemas.microsoft.com/office/drawing/2014/main" id="{ED47D942-3F55-C37E-C497-13F45DDA0A41}"/>
              </a:ext>
            </a:extLst>
          </p:cNvPr>
          <p:cNvSpPr>
            <a:spLocks noGrp="1"/>
          </p:cNvSpPr>
          <p:nvPr>
            <p:ph idx="1"/>
          </p:nvPr>
        </p:nvSpPr>
        <p:spPr/>
        <p:txBody>
          <a:bodyPr vert="horz" lIns="91440" tIns="45720" rIns="91440" bIns="45720" rtlCol="0" anchor="t">
            <a:normAutofit/>
          </a:bodyPr>
          <a:lstStyle/>
          <a:p>
            <a:r>
              <a:rPr lang="en-GB" b="1">
                <a:ea typeface="+mn-lt"/>
                <a:cs typeface="+mn-lt"/>
              </a:rPr>
              <a:t>Stakeholders</a:t>
            </a:r>
            <a:r>
              <a:rPr lang="en-GB">
                <a:ea typeface="+mn-lt"/>
                <a:cs typeface="+mn-lt"/>
              </a:rPr>
              <a:t>:</a:t>
            </a:r>
            <a:endParaRPr lang="en-GB"/>
          </a:p>
          <a:p>
            <a:pPr lvl="1">
              <a:buFont typeface="Courier New" panose="020B0604020202020204" pitchFamily="34" charset="0"/>
              <a:buChar char="o"/>
            </a:pPr>
            <a:r>
              <a:rPr lang="en-GB" b="1">
                <a:ea typeface="+mn-lt"/>
                <a:cs typeface="+mn-lt"/>
              </a:rPr>
              <a:t>Primary Stakeholders</a:t>
            </a:r>
            <a:r>
              <a:rPr lang="en-GB">
                <a:ea typeface="+mn-lt"/>
                <a:cs typeface="+mn-lt"/>
              </a:rPr>
              <a:t>: </a:t>
            </a:r>
          </a:p>
          <a:p>
            <a:pPr lvl="2">
              <a:buFont typeface="Wingdings" panose="020B0604020202020204" pitchFamily="34" charset="0"/>
              <a:buChar char="§"/>
            </a:pPr>
            <a:r>
              <a:rPr lang="en-GB" err="1">
                <a:ea typeface="+mn-lt"/>
                <a:cs typeface="+mn-lt"/>
              </a:rPr>
              <a:t>Rurant</a:t>
            </a:r>
            <a:endParaRPr lang="en-GB">
              <a:ea typeface="+mn-lt"/>
              <a:cs typeface="+mn-lt"/>
            </a:endParaRPr>
          </a:p>
          <a:p>
            <a:pPr lvl="2">
              <a:buFont typeface="Wingdings" panose="020B0604020202020204" pitchFamily="34" charset="0"/>
              <a:buChar char="§"/>
            </a:pPr>
            <a:r>
              <a:rPr lang="en-GB"/>
              <a:t>Villagers</a:t>
            </a:r>
          </a:p>
          <a:p>
            <a:pPr lvl="2">
              <a:buFont typeface="Wingdings" panose="020B0604020202020204" pitchFamily="34" charset="0"/>
              <a:buChar char="§"/>
            </a:pPr>
            <a:r>
              <a:rPr lang="en-GB"/>
              <a:t>Province of Antwerp</a:t>
            </a:r>
          </a:p>
          <a:p>
            <a:pPr lvl="2">
              <a:buFont typeface="Wingdings" panose="020B0604020202020204" pitchFamily="34" charset="0"/>
              <a:buChar char="§"/>
            </a:pPr>
            <a:endParaRPr lang="en-GB">
              <a:ea typeface="+mn-lt"/>
              <a:cs typeface="+mn-lt"/>
            </a:endParaRPr>
          </a:p>
          <a:p>
            <a:pPr lvl="1">
              <a:buFont typeface="Courier New" panose="020B0604020202020204" pitchFamily="34" charset="0"/>
              <a:buChar char="o"/>
            </a:pPr>
            <a:r>
              <a:rPr lang="en-GB" b="1">
                <a:ea typeface="+mn-lt"/>
                <a:cs typeface="+mn-lt"/>
              </a:rPr>
              <a:t>Secondary Stakeholders</a:t>
            </a:r>
            <a:r>
              <a:rPr lang="en-GB">
                <a:ea typeface="+mn-lt"/>
                <a:cs typeface="+mn-lt"/>
              </a:rPr>
              <a:t>: </a:t>
            </a:r>
          </a:p>
          <a:p>
            <a:pPr lvl="2">
              <a:buFont typeface="Wingdings" panose="020B0604020202020204" pitchFamily="34" charset="0"/>
              <a:buChar char="§"/>
            </a:pPr>
            <a:r>
              <a:rPr lang="en-GB">
                <a:ea typeface="+mn-lt"/>
                <a:cs typeface="+mn-lt"/>
              </a:rPr>
              <a:t>Development team (experience gain)</a:t>
            </a:r>
            <a:endParaRPr lang="en-GB"/>
          </a:p>
          <a:p>
            <a:endParaRPr lang="en-GB"/>
          </a:p>
        </p:txBody>
      </p:sp>
    </p:spTree>
    <p:extLst>
      <p:ext uri="{BB962C8B-B14F-4D97-AF65-F5344CB8AC3E}">
        <p14:creationId xmlns:p14="http://schemas.microsoft.com/office/powerpoint/2010/main" val="2158103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017EAA-8400-EF2E-90EB-81DF26D4A542}"/>
              </a:ext>
            </a:extLst>
          </p:cNvPr>
          <p:cNvSpPr>
            <a:spLocks noGrp="1"/>
          </p:cNvSpPr>
          <p:nvPr>
            <p:ph type="title"/>
          </p:nvPr>
        </p:nvSpPr>
        <p:spPr/>
        <p:txBody>
          <a:bodyPr/>
          <a:lstStyle/>
          <a:p>
            <a:r>
              <a:rPr lang="nl-NL"/>
              <a:t>Timeline</a:t>
            </a:r>
          </a:p>
        </p:txBody>
      </p:sp>
      <p:sp>
        <p:nvSpPr>
          <p:cNvPr id="3" name="Tijdelijke aanduiding voor inhoud 2">
            <a:extLst>
              <a:ext uri="{FF2B5EF4-FFF2-40B4-BE49-F238E27FC236}">
                <a16:creationId xmlns:a16="http://schemas.microsoft.com/office/drawing/2014/main" id="{027D13D4-5DE7-C1FD-6583-628B6BC32D58}"/>
              </a:ext>
            </a:extLst>
          </p:cNvPr>
          <p:cNvSpPr>
            <a:spLocks noGrp="1"/>
          </p:cNvSpPr>
          <p:nvPr>
            <p:ph idx="1"/>
          </p:nvPr>
        </p:nvSpPr>
        <p:spPr/>
        <p:txBody>
          <a:bodyPr vert="horz" lIns="91440" tIns="45720" rIns="91440" bIns="45720" rtlCol="0" anchor="t">
            <a:normAutofit/>
          </a:bodyPr>
          <a:lstStyle/>
          <a:p>
            <a:r>
              <a:rPr lang="en-GB"/>
              <a:t>Before autumn break</a:t>
            </a:r>
          </a:p>
          <a:p>
            <a:pPr lvl="1">
              <a:buFont typeface="Courier New" panose="020B0604020202020204" pitchFamily="34" charset="0"/>
              <a:buChar char="o"/>
            </a:pPr>
            <a:r>
              <a:rPr lang="en-GB"/>
              <a:t>Creating PowerPoint presentation for other students</a:t>
            </a:r>
          </a:p>
          <a:p>
            <a:pPr lvl="1">
              <a:buFont typeface="Courier New" panose="020B0604020202020204" pitchFamily="34" charset="0"/>
              <a:buChar char="o"/>
            </a:pPr>
            <a:r>
              <a:rPr lang="en-GB"/>
              <a:t>Present to students</a:t>
            </a:r>
          </a:p>
          <a:p>
            <a:pPr lvl="1">
              <a:buFont typeface="Courier New" panose="020B0604020202020204" pitchFamily="34" charset="0"/>
              <a:buChar char="o"/>
            </a:pPr>
            <a:r>
              <a:rPr lang="en-GB"/>
              <a:t>Project plan corrections</a:t>
            </a:r>
          </a:p>
          <a:p>
            <a:pPr lvl="1">
              <a:buFont typeface="Courier New" panose="020B0604020202020204" pitchFamily="34" charset="0"/>
              <a:buChar char="o"/>
            </a:pPr>
            <a:r>
              <a:rPr lang="en-GB"/>
              <a:t>Creating PowerPoint presentation for client</a:t>
            </a:r>
          </a:p>
          <a:p>
            <a:pPr lvl="1">
              <a:buFont typeface="Courier New" panose="020B0604020202020204" pitchFamily="34" charset="0"/>
              <a:buChar char="o"/>
            </a:pPr>
            <a:r>
              <a:rPr lang="en-GB"/>
              <a:t>Present to client</a:t>
            </a:r>
          </a:p>
          <a:p>
            <a:endParaRPr lang="en-GB"/>
          </a:p>
          <a:p>
            <a:endParaRPr lang="en-GB"/>
          </a:p>
          <a:p>
            <a:endParaRPr lang="en-GB"/>
          </a:p>
        </p:txBody>
      </p:sp>
    </p:spTree>
    <p:extLst>
      <p:ext uri="{BB962C8B-B14F-4D97-AF65-F5344CB8AC3E}">
        <p14:creationId xmlns:p14="http://schemas.microsoft.com/office/powerpoint/2010/main" val="2170121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017EAA-8400-EF2E-90EB-81DF26D4A542}"/>
              </a:ext>
            </a:extLst>
          </p:cNvPr>
          <p:cNvSpPr>
            <a:spLocks noGrp="1"/>
          </p:cNvSpPr>
          <p:nvPr>
            <p:ph type="title"/>
          </p:nvPr>
        </p:nvSpPr>
        <p:spPr/>
        <p:txBody>
          <a:bodyPr/>
          <a:lstStyle/>
          <a:p>
            <a:r>
              <a:rPr lang="nl-NL"/>
              <a:t>Timeline</a:t>
            </a:r>
          </a:p>
        </p:txBody>
      </p:sp>
      <p:sp>
        <p:nvSpPr>
          <p:cNvPr id="3" name="Tijdelijke aanduiding voor inhoud 2">
            <a:extLst>
              <a:ext uri="{FF2B5EF4-FFF2-40B4-BE49-F238E27FC236}">
                <a16:creationId xmlns:a16="http://schemas.microsoft.com/office/drawing/2014/main" id="{027D13D4-5DE7-C1FD-6583-628B6BC32D58}"/>
              </a:ext>
            </a:extLst>
          </p:cNvPr>
          <p:cNvSpPr>
            <a:spLocks noGrp="1"/>
          </p:cNvSpPr>
          <p:nvPr>
            <p:ph idx="1"/>
          </p:nvPr>
        </p:nvSpPr>
        <p:spPr/>
        <p:txBody>
          <a:bodyPr vert="horz" lIns="91440" tIns="45720" rIns="91440" bIns="45720" rtlCol="0" anchor="t">
            <a:normAutofit/>
          </a:bodyPr>
          <a:lstStyle/>
          <a:p>
            <a:r>
              <a:rPr lang="en-GB" dirty="0"/>
              <a:t>Between Autumn and Christmas break</a:t>
            </a:r>
          </a:p>
          <a:p>
            <a:pPr lvl="1">
              <a:buFont typeface="Courier New" panose="020B0604020202020204" pitchFamily="34" charset="0"/>
              <a:buChar char="o"/>
            </a:pPr>
            <a:r>
              <a:rPr lang="en-GB" dirty="0"/>
              <a:t>Concept phase</a:t>
            </a:r>
          </a:p>
          <a:p>
            <a:pPr lvl="2">
              <a:buFont typeface="Wingdings" panose="020B0604020202020204" pitchFamily="34" charset="0"/>
              <a:buChar char="§"/>
            </a:pPr>
            <a:r>
              <a:rPr lang="en-GB" dirty="0"/>
              <a:t>Looking for the best technologies to use</a:t>
            </a:r>
          </a:p>
          <a:p>
            <a:pPr lvl="2">
              <a:buFont typeface="Wingdings" panose="020B0604020202020204" pitchFamily="34" charset="0"/>
              <a:buChar char="§"/>
            </a:pPr>
            <a:r>
              <a:rPr lang="en-GB" dirty="0"/>
              <a:t>Cost analysis</a:t>
            </a:r>
          </a:p>
          <a:p>
            <a:pPr lvl="2">
              <a:buFont typeface="Wingdings" panose="020B0604020202020204" pitchFamily="34" charset="0"/>
              <a:buChar char="§"/>
            </a:pPr>
            <a:r>
              <a:rPr lang="en-GB" dirty="0"/>
              <a:t>CI/CD pipeline</a:t>
            </a:r>
          </a:p>
          <a:p>
            <a:endParaRPr lang="en-GB" dirty="0"/>
          </a:p>
          <a:p>
            <a:endParaRPr lang="en-GB" dirty="0"/>
          </a:p>
          <a:p>
            <a:endParaRPr lang="en-GB" dirty="0"/>
          </a:p>
        </p:txBody>
      </p:sp>
    </p:spTree>
    <p:extLst>
      <p:ext uri="{BB962C8B-B14F-4D97-AF65-F5344CB8AC3E}">
        <p14:creationId xmlns:p14="http://schemas.microsoft.com/office/powerpoint/2010/main" val="3834825561"/>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5661-C466-54FE-B102-852D56FA1D97}"/>
              </a:ext>
            </a:extLst>
          </p:cNvPr>
          <p:cNvSpPr>
            <a:spLocks noGrp="1"/>
          </p:cNvSpPr>
          <p:nvPr>
            <p:ph type="title"/>
          </p:nvPr>
        </p:nvSpPr>
        <p:spPr/>
        <p:txBody>
          <a:bodyPr/>
          <a:lstStyle/>
          <a:p>
            <a:r>
              <a:rPr lang="en-GB">
                <a:ea typeface="+mj-lt"/>
                <a:cs typeface="+mj-lt"/>
              </a:rPr>
              <a:t>Project Scope and Risks</a:t>
            </a:r>
            <a:endParaRPr lang="en-US"/>
          </a:p>
        </p:txBody>
      </p:sp>
      <p:sp>
        <p:nvSpPr>
          <p:cNvPr id="3" name="Content Placeholder 2">
            <a:extLst>
              <a:ext uri="{FF2B5EF4-FFF2-40B4-BE49-F238E27FC236}">
                <a16:creationId xmlns:a16="http://schemas.microsoft.com/office/drawing/2014/main" id="{4FB7BB25-849B-0EA6-E4F8-DBE70B0CFA5E}"/>
              </a:ext>
            </a:extLst>
          </p:cNvPr>
          <p:cNvSpPr>
            <a:spLocks noGrp="1"/>
          </p:cNvSpPr>
          <p:nvPr>
            <p:ph idx="1"/>
          </p:nvPr>
        </p:nvSpPr>
        <p:spPr/>
        <p:txBody>
          <a:bodyPr vert="horz" lIns="91440" tIns="45720" rIns="91440" bIns="45720" rtlCol="0" anchor="t">
            <a:normAutofit/>
          </a:bodyPr>
          <a:lstStyle/>
          <a:p>
            <a:r>
              <a:rPr lang="en-GB" b="1" dirty="0">
                <a:ea typeface="+mn-lt"/>
                <a:cs typeface="+mn-lt"/>
              </a:rPr>
              <a:t>AI Development</a:t>
            </a:r>
            <a:r>
              <a:rPr lang="en-GB" dirty="0">
                <a:ea typeface="+mn-lt"/>
                <a:cs typeface="+mn-lt"/>
              </a:rPr>
              <a:t>:</a:t>
            </a:r>
            <a:endParaRPr lang="en-GB" dirty="0"/>
          </a:p>
          <a:p>
            <a:pPr lvl="1">
              <a:buFont typeface="Courier New" panose="020B0604020202020204" pitchFamily="34" charset="0"/>
              <a:buChar char="o"/>
            </a:pPr>
            <a:r>
              <a:rPr lang="en-GB" dirty="0">
                <a:ea typeface="+mn-lt"/>
                <a:cs typeface="+mn-lt"/>
              </a:rPr>
              <a:t>Develop a conversational AI system capable of understanding Dutch/Flemish (including dialects).</a:t>
            </a:r>
            <a:endParaRPr lang="en-GB" dirty="0"/>
          </a:p>
          <a:p>
            <a:pPr lvl="1">
              <a:buFont typeface="Courier New" panose="020B0604020202020204" pitchFamily="34" charset="0"/>
              <a:buChar char="o"/>
            </a:pPr>
            <a:r>
              <a:rPr lang="en-GB" dirty="0">
                <a:ea typeface="+mn-lt"/>
                <a:cs typeface="+mn-lt"/>
              </a:rPr>
              <a:t>Incorporate speech-to-text (STT) and text-to-speech (TTS) systems for real-time interaction.</a:t>
            </a:r>
            <a:endParaRPr lang="en-GB" dirty="0"/>
          </a:p>
          <a:p>
            <a:pPr lvl="1">
              <a:buFont typeface="Courier New" panose="020B0604020202020204" pitchFamily="34" charset="0"/>
              <a:buChar char="o"/>
            </a:pPr>
            <a:r>
              <a:rPr lang="en-GB" dirty="0">
                <a:ea typeface="+mn-lt"/>
                <a:cs typeface="+mn-lt"/>
              </a:rPr>
              <a:t>Integrate emotion and sentiment analysis to enhance interaction quality.</a:t>
            </a:r>
            <a:endParaRPr lang="en-GB" dirty="0"/>
          </a:p>
          <a:p>
            <a:endParaRPr lang="en-GB" dirty="0"/>
          </a:p>
          <a:p>
            <a:endParaRPr lang="en-GB" dirty="0"/>
          </a:p>
          <a:p>
            <a:endParaRPr lang="en-GB" dirty="0"/>
          </a:p>
        </p:txBody>
      </p:sp>
    </p:spTree>
    <p:extLst>
      <p:ext uri="{BB962C8B-B14F-4D97-AF65-F5344CB8AC3E}">
        <p14:creationId xmlns:p14="http://schemas.microsoft.com/office/powerpoint/2010/main" val="761828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5661-C466-54FE-B102-852D56FA1D97}"/>
              </a:ext>
            </a:extLst>
          </p:cNvPr>
          <p:cNvSpPr>
            <a:spLocks noGrp="1"/>
          </p:cNvSpPr>
          <p:nvPr>
            <p:ph type="title"/>
          </p:nvPr>
        </p:nvSpPr>
        <p:spPr/>
        <p:txBody>
          <a:bodyPr/>
          <a:lstStyle/>
          <a:p>
            <a:r>
              <a:rPr lang="en-GB">
                <a:ea typeface="+mj-lt"/>
                <a:cs typeface="+mj-lt"/>
              </a:rPr>
              <a:t>Project Scope and Risks</a:t>
            </a:r>
            <a:endParaRPr lang="en-US"/>
          </a:p>
        </p:txBody>
      </p:sp>
      <p:sp>
        <p:nvSpPr>
          <p:cNvPr id="3" name="Content Placeholder 2">
            <a:extLst>
              <a:ext uri="{FF2B5EF4-FFF2-40B4-BE49-F238E27FC236}">
                <a16:creationId xmlns:a16="http://schemas.microsoft.com/office/drawing/2014/main" id="{4FB7BB25-849B-0EA6-E4F8-DBE70B0CFA5E}"/>
              </a:ext>
            </a:extLst>
          </p:cNvPr>
          <p:cNvSpPr>
            <a:spLocks noGrp="1"/>
          </p:cNvSpPr>
          <p:nvPr>
            <p:ph idx="1"/>
          </p:nvPr>
        </p:nvSpPr>
        <p:spPr/>
        <p:txBody>
          <a:bodyPr vert="horz" lIns="91440" tIns="45720" rIns="91440" bIns="45720" rtlCol="0" anchor="t">
            <a:normAutofit/>
          </a:bodyPr>
          <a:lstStyle/>
          <a:p>
            <a:r>
              <a:rPr lang="en-GB" b="1">
                <a:ea typeface="+mn-lt"/>
                <a:cs typeface="+mn-lt"/>
              </a:rPr>
              <a:t>Data Capture and Storage</a:t>
            </a:r>
            <a:r>
              <a:rPr lang="en-GB">
                <a:ea typeface="+mn-lt"/>
                <a:cs typeface="+mn-lt"/>
              </a:rPr>
              <a:t>:</a:t>
            </a:r>
            <a:endParaRPr lang="en-GB"/>
          </a:p>
          <a:p>
            <a:pPr lvl="1">
              <a:buFont typeface="Courier New" panose="020B0604020202020204" pitchFamily="34" charset="0"/>
              <a:buChar char="o"/>
            </a:pPr>
            <a:r>
              <a:rPr lang="en-GB">
                <a:ea typeface="+mn-lt"/>
                <a:cs typeface="+mn-lt"/>
              </a:rPr>
              <a:t>Capture conversation transcripts, analyse key topics through keywords, and generate heatmaps of common responses.</a:t>
            </a:r>
          </a:p>
          <a:p>
            <a:pPr lvl="1">
              <a:buFont typeface="Courier New" panose="020B0604020202020204" pitchFamily="34" charset="0"/>
              <a:buChar char="o"/>
            </a:pPr>
            <a:r>
              <a:rPr lang="en-GB">
                <a:ea typeface="+mn-lt"/>
                <a:cs typeface="+mn-lt"/>
              </a:rPr>
              <a:t>Ensure data compliance with GDPR, with encryption and anonymization methods in place.</a:t>
            </a:r>
          </a:p>
          <a:p>
            <a:endParaRPr lang="en-GB"/>
          </a:p>
          <a:p>
            <a:endParaRPr lang="en-GB"/>
          </a:p>
          <a:p>
            <a:endParaRPr lang="en-GB"/>
          </a:p>
          <a:p>
            <a:endParaRPr lang="en-GB"/>
          </a:p>
        </p:txBody>
      </p:sp>
    </p:spTree>
    <p:extLst>
      <p:ext uri="{BB962C8B-B14F-4D97-AF65-F5344CB8AC3E}">
        <p14:creationId xmlns:p14="http://schemas.microsoft.com/office/powerpoint/2010/main" val="3138192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CD7AD-6E20-BC79-16FB-15499E187587}"/>
              </a:ext>
            </a:extLst>
          </p:cNvPr>
          <p:cNvSpPr>
            <a:spLocks noGrp="1"/>
          </p:cNvSpPr>
          <p:nvPr>
            <p:ph type="title"/>
          </p:nvPr>
        </p:nvSpPr>
        <p:spPr/>
        <p:txBody>
          <a:bodyPr/>
          <a:lstStyle/>
          <a:p>
            <a:r>
              <a:rPr lang="en-GB"/>
              <a:t>Project Scope and Risks</a:t>
            </a:r>
            <a:endParaRPr lang="en-GB">
              <a:solidFill>
                <a:srgbClr val="000000"/>
              </a:solidFill>
            </a:endParaRPr>
          </a:p>
        </p:txBody>
      </p:sp>
      <p:sp>
        <p:nvSpPr>
          <p:cNvPr id="3" name="Content Placeholder 2">
            <a:extLst>
              <a:ext uri="{FF2B5EF4-FFF2-40B4-BE49-F238E27FC236}">
                <a16:creationId xmlns:a16="http://schemas.microsoft.com/office/drawing/2014/main" id="{DA592ADA-6D7D-43A5-357C-B5805688E94B}"/>
              </a:ext>
            </a:extLst>
          </p:cNvPr>
          <p:cNvSpPr>
            <a:spLocks noGrp="1"/>
          </p:cNvSpPr>
          <p:nvPr>
            <p:ph idx="1"/>
          </p:nvPr>
        </p:nvSpPr>
        <p:spPr/>
        <p:txBody>
          <a:bodyPr vert="horz" lIns="91440" tIns="45720" rIns="91440" bIns="45720" rtlCol="0" anchor="t">
            <a:noAutofit/>
          </a:bodyPr>
          <a:lstStyle/>
          <a:p>
            <a:r>
              <a:rPr lang="en-GB" b="1" dirty="0">
                <a:ea typeface="+mn-lt"/>
                <a:cs typeface="+mn-lt"/>
              </a:rPr>
              <a:t>App Development:</a:t>
            </a:r>
            <a:endParaRPr lang="nl-NL" dirty="0">
              <a:ea typeface="+mn-lt"/>
              <a:cs typeface="+mn-lt"/>
            </a:endParaRPr>
          </a:p>
          <a:p>
            <a:pPr lvl="1">
              <a:buFont typeface="Courier New" panose="020B0604020202020204" pitchFamily="34" charset="0"/>
              <a:buChar char="o"/>
            </a:pPr>
            <a:r>
              <a:rPr lang="en-GB" dirty="0">
                <a:ea typeface="+mn-lt"/>
                <a:cs typeface="+mn-lt"/>
              </a:rPr>
              <a:t>Create a user-friendly web interface to manage settings, view data insights, and monitor bench activity.</a:t>
            </a:r>
            <a:endParaRPr lang="nl-NL" sz="2800" dirty="0"/>
          </a:p>
          <a:p>
            <a:pPr marL="685800" lvl="2">
              <a:spcBef>
                <a:spcPts val="1000"/>
              </a:spcBef>
              <a:buFont typeface="Courier New" panose="020B0604020202020204" pitchFamily="34" charset="0"/>
              <a:buChar char="o"/>
            </a:pPr>
            <a:r>
              <a:rPr lang="en-GB" sz="2000" dirty="0">
                <a:ea typeface="+mn-lt"/>
                <a:cs typeface="+mn-lt"/>
              </a:rPr>
              <a:t>Display analytics (e.g., keyword trends, user engagement) for non-technical stakeholders to review village insights.</a:t>
            </a:r>
          </a:p>
        </p:txBody>
      </p:sp>
    </p:spTree>
    <p:extLst>
      <p:ext uri="{BB962C8B-B14F-4D97-AF65-F5344CB8AC3E}">
        <p14:creationId xmlns:p14="http://schemas.microsoft.com/office/powerpoint/2010/main" val="489602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CD7AD-6E20-BC79-16FB-15499E187587}"/>
              </a:ext>
            </a:extLst>
          </p:cNvPr>
          <p:cNvSpPr>
            <a:spLocks noGrp="1"/>
          </p:cNvSpPr>
          <p:nvPr>
            <p:ph type="title"/>
          </p:nvPr>
        </p:nvSpPr>
        <p:spPr/>
        <p:txBody>
          <a:bodyPr/>
          <a:lstStyle/>
          <a:p>
            <a:r>
              <a:rPr lang="en-GB"/>
              <a:t>Project Scope and Risks</a:t>
            </a:r>
            <a:endParaRPr lang="en-GB">
              <a:solidFill>
                <a:srgbClr val="000000"/>
              </a:solidFill>
            </a:endParaRPr>
          </a:p>
        </p:txBody>
      </p:sp>
      <p:sp>
        <p:nvSpPr>
          <p:cNvPr id="3" name="Content Placeholder 2">
            <a:extLst>
              <a:ext uri="{FF2B5EF4-FFF2-40B4-BE49-F238E27FC236}">
                <a16:creationId xmlns:a16="http://schemas.microsoft.com/office/drawing/2014/main" id="{DA592ADA-6D7D-43A5-357C-B5805688E94B}"/>
              </a:ext>
            </a:extLst>
          </p:cNvPr>
          <p:cNvSpPr>
            <a:spLocks noGrp="1"/>
          </p:cNvSpPr>
          <p:nvPr>
            <p:ph idx="1"/>
          </p:nvPr>
        </p:nvSpPr>
        <p:spPr/>
        <p:txBody>
          <a:bodyPr vert="horz" lIns="91440" tIns="45720" rIns="91440" bIns="45720" rtlCol="0" anchor="t">
            <a:noAutofit/>
          </a:bodyPr>
          <a:lstStyle/>
          <a:p>
            <a:r>
              <a:rPr lang="en-GB" sz="1600" b="1">
                <a:ea typeface="+mn-lt"/>
                <a:cs typeface="+mn-lt"/>
              </a:rPr>
              <a:t>Hardware/IoT Integration</a:t>
            </a:r>
            <a:r>
              <a:rPr lang="en-GB" sz="1600">
                <a:ea typeface="+mn-lt"/>
                <a:cs typeface="+mn-lt"/>
              </a:rPr>
              <a:t>:</a:t>
            </a:r>
            <a:endParaRPr lang="nl-NL"/>
          </a:p>
          <a:p>
            <a:pPr lvl="1">
              <a:buFont typeface="Courier New" panose="020B0604020202020204" pitchFamily="34" charset="0"/>
              <a:buChar char="o"/>
            </a:pPr>
            <a:r>
              <a:rPr lang="en-GB" sz="1600">
                <a:ea typeface="+mn-lt"/>
                <a:cs typeface="+mn-lt"/>
              </a:rPr>
              <a:t>Design and implement the physical components, including microphones, speakers, and activation sensors (e.g., button presses).</a:t>
            </a:r>
          </a:p>
          <a:p>
            <a:pPr lvl="1">
              <a:buFont typeface="Courier New" panose="020B0604020202020204" pitchFamily="34" charset="0"/>
              <a:buChar char="o"/>
            </a:pPr>
            <a:r>
              <a:rPr lang="en-GB" sz="1600">
                <a:ea typeface="+mn-lt"/>
                <a:cs typeface="+mn-lt"/>
              </a:rPr>
              <a:t>Ensure weather-resistant hardware for outdoor environments (e.g., rain, wind, heat).</a:t>
            </a:r>
          </a:p>
          <a:p>
            <a:r>
              <a:rPr lang="en-GB" sz="1600" b="1">
                <a:ea typeface="+mn-lt"/>
                <a:cs typeface="+mn-lt"/>
              </a:rPr>
              <a:t>Cloud Computing Services (CCS)</a:t>
            </a:r>
            <a:r>
              <a:rPr lang="en-GB" sz="1600">
                <a:ea typeface="+mn-lt"/>
                <a:cs typeface="+mn-lt"/>
              </a:rPr>
              <a:t>:</a:t>
            </a:r>
          </a:p>
          <a:p>
            <a:pPr lvl="1">
              <a:buFont typeface="Courier New" panose="020B0604020202020204" pitchFamily="34" charset="0"/>
              <a:buChar char="o"/>
            </a:pPr>
            <a:r>
              <a:rPr lang="en-GB" sz="1600">
                <a:ea typeface="+mn-lt"/>
                <a:cs typeface="+mn-lt"/>
              </a:rPr>
              <a:t>Use cloud-based infrastructure to handle AI processing and data storage, ensuring scalability and secure access.</a:t>
            </a:r>
          </a:p>
          <a:p>
            <a:pPr lvl="1">
              <a:buFont typeface="Courier New" panose="020B0604020202020204" pitchFamily="34" charset="0"/>
              <a:buChar char="o"/>
            </a:pPr>
            <a:r>
              <a:rPr lang="en-GB" sz="1600">
                <a:ea typeface="+mn-lt"/>
                <a:cs typeface="+mn-lt"/>
              </a:rPr>
              <a:t>Implement backup systems and real-time data sync to the cloud for efficient data retrieval and processing.</a:t>
            </a:r>
          </a:p>
          <a:p>
            <a:endParaRPr lang="en-GB" sz="1300"/>
          </a:p>
        </p:txBody>
      </p:sp>
    </p:spTree>
    <p:extLst>
      <p:ext uri="{BB962C8B-B14F-4D97-AF65-F5344CB8AC3E}">
        <p14:creationId xmlns:p14="http://schemas.microsoft.com/office/powerpoint/2010/main" val="3807071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B66CB-ED3D-5194-EA93-EFC272AD13F6}"/>
              </a:ext>
            </a:extLst>
          </p:cNvPr>
          <p:cNvSpPr>
            <a:spLocks noGrp="1"/>
          </p:cNvSpPr>
          <p:nvPr>
            <p:ph type="title"/>
          </p:nvPr>
        </p:nvSpPr>
        <p:spPr/>
        <p:txBody>
          <a:bodyPr/>
          <a:lstStyle/>
          <a:p>
            <a:r>
              <a:rPr lang="en-GB"/>
              <a:t>Project Scope and Risks</a:t>
            </a:r>
            <a:endParaRPr lang="en-US"/>
          </a:p>
        </p:txBody>
      </p:sp>
      <p:sp>
        <p:nvSpPr>
          <p:cNvPr id="3" name="Content Placeholder 2">
            <a:extLst>
              <a:ext uri="{FF2B5EF4-FFF2-40B4-BE49-F238E27FC236}">
                <a16:creationId xmlns:a16="http://schemas.microsoft.com/office/drawing/2014/main" id="{50A620CB-DE02-726A-BCEB-D3D0000AB622}"/>
              </a:ext>
            </a:extLst>
          </p:cNvPr>
          <p:cNvSpPr>
            <a:spLocks noGrp="1"/>
          </p:cNvSpPr>
          <p:nvPr>
            <p:ph idx="1"/>
          </p:nvPr>
        </p:nvSpPr>
        <p:spPr/>
        <p:txBody>
          <a:bodyPr vert="horz" lIns="91440" tIns="45720" rIns="91440" bIns="45720" rtlCol="0" anchor="t">
            <a:normAutofit/>
          </a:bodyPr>
          <a:lstStyle/>
          <a:p>
            <a:r>
              <a:rPr lang="en-GB" sz="2200" b="1"/>
              <a:t>Risks</a:t>
            </a:r>
            <a:r>
              <a:rPr lang="en-GB" sz="2200"/>
              <a:t>:</a:t>
            </a:r>
          </a:p>
          <a:p>
            <a:pPr lvl="1"/>
            <a:r>
              <a:rPr lang="en-GB" sz="1900"/>
              <a:t>Power outages</a:t>
            </a:r>
          </a:p>
          <a:p>
            <a:pPr lvl="1"/>
            <a:r>
              <a:rPr lang="en-GB" sz="1900"/>
              <a:t>Security</a:t>
            </a:r>
          </a:p>
          <a:p>
            <a:pPr lvl="1"/>
            <a:r>
              <a:rPr lang="en-GB" sz="1900"/>
              <a:t>Consent to data use</a:t>
            </a:r>
          </a:p>
          <a:p>
            <a:pPr lvl="1"/>
            <a:r>
              <a:rPr lang="en-GB" sz="1900"/>
              <a:t>Slow response time</a:t>
            </a:r>
          </a:p>
          <a:p>
            <a:pPr lvl="1"/>
            <a:r>
              <a:rPr lang="en-GB" sz="1900"/>
              <a:t>Response accuracy</a:t>
            </a:r>
          </a:p>
          <a:p>
            <a:pPr lvl="1"/>
            <a:r>
              <a:rPr lang="en-GB" sz="1900"/>
              <a:t>Cloud costs</a:t>
            </a:r>
          </a:p>
          <a:p>
            <a:pPr lvl="1"/>
            <a:r>
              <a:rPr lang="en-GB" sz="1900"/>
              <a:t>Cord being pulled</a:t>
            </a:r>
          </a:p>
          <a:p>
            <a:pPr lvl="1"/>
            <a:r>
              <a:rPr lang="en-GB" sz="1900"/>
              <a:t>Vandalism</a:t>
            </a:r>
          </a:p>
        </p:txBody>
      </p:sp>
    </p:spTree>
    <p:extLst>
      <p:ext uri="{BB962C8B-B14F-4D97-AF65-F5344CB8AC3E}">
        <p14:creationId xmlns:p14="http://schemas.microsoft.com/office/powerpoint/2010/main" val="1283791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10CB56-25FB-B9A6-9AA7-F3E3C93E379C}"/>
              </a:ext>
            </a:extLst>
          </p:cNvPr>
          <p:cNvSpPr>
            <a:spLocks noGrp="1"/>
          </p:cNvSpPr>
          <p:nvPr>
            <p:ph type="title"/>
          </p:nvPr>
        </p:nvSpPr>
        <p:spPr/>
        <p:txBody>
          <a:bodyPr/>
          <a:lstStyle/>
          <a:p>
            <a:r>
              <a:rPr lang="nl-NL"/>
              <a:t>Reporting </a:t>
            </a:r>
            <a:r>
              <a:rPr lang="nl-NL" err="1"/>
              <a:t>and</a:t>
            </a:r>
            <a:r>
              <a:rPr lang="nl-NL"/>
              <a:t> information </a:t>
            </a:r>
          </a:p>
        </p:txBody>
      </p:sp>
      <p:sp>
        <p:nvSpPr>
          <p:cNvPr id="3" name="Tijdelijke aanduiding voor inhoud 2">
            <a:extLst>
              <a:ext uri="{FF2B5EF4-FFF2-40B4-BE49-F238E27FC236}">
                <a16:creationId xmlns:a16="http://schemas.microsoft.com/office/drawing/2014/main" id="{D0B775B4-D539-CF4E-546F-31D9B5930767}"/>
              </a:ext>
            </a:extLst>
          </p:cNvPr>
          <p:cNvSpPr>
            <a:spLocks noGrp="1"/>
          </p:cNvSpPr>
          <p:nvPr>
            <p:ph idx="1"/>
          </p:nvPr>
        </p:nvSpPr>
        <p:spPr/>
        <p:txBody>
          <a:bodyPr vert="horz" lIns="91440" tIns="45720" rIns="91440" bIns="45720" rtlCol="0" anchor="t">
            <a:normAutofit/>
          </a:bodyPr>
          <a:lstStyle/>
          <a:p>
            <a:pPr marL="342900" indent="-342900"/>
            <a:r>
              <a:rPr lang="en-GB"/>
              <a:t>Present to group B</a:t>
            </a:r>
          </a:p>
          <a:p>
            <a:pPr marL="800100" lvl="1" indent="-342900">
              <a:buFont typeface="Courier New" panose="020B0604020202020204" pitchFamily="34" charset="0"/>
              <a:buChar char="o"/>
            </a:pPr>
            <a:r>
              <a:rPr lang="en-GB"/>
              <a:t>October 15th</a:t>
            </a:r>
          </a:p>
          <a:p>
            <a:pPr marL="342900" indent="-342900"/>
            <a:r>
              <a:rPr lang="en-GB"/>
              <a:t>Report to client</a:t>
            </a:r>
          </a:p>
          <a:p>
            <a:pPr marL="800100" lvl="1" indent="-342900">
              <a:buFont typeface="Courier New" panose="020B0604020202020204" pitchFamily="34" charset="0"/>
              <a:buChar char="o"/>
            </a:pPr>
            <a:r>
              <a:rPr lang="en-GB"/>
              <a:t>Around October 22nd</a:t>
            </a:r>
          </a:p>
          <a:p>
            <a:pPr marL="800100" lvl="1" indent="-342900">
              <a:buFont typeface="Courier New" panose="020B0604020202020204" pitchFamily="34" charset="0"/>
              <a:buChar char="o"/>
            </a:pPr>
            <a:r>
              <a:rPr lang="en-GB"/>
              <a:t>All team leads</a:t>
            </a:r>
          </a:p>
          <a:p>
            <a:pPr marL="342900"/>
            <a:r>
              <a:rPr lang="en-GB"/>
              <a:t>Present concept to client</a:t>
            </a:r>
          </a:p>
          <a:p>
            <a:pPr marL="800100" lvl="1" indent="-342900">
              <a:buFont typeface="Courier New" panose="020B0604020202020204" pitchFamily="34" charset="0"/>
              <a:buChar char="o"/>
            </a:pPr>
            <a:r>
              <a:rPr lang="en-GB"/>
              <a:t>December 17th</a:t>
            </a:r>
          </a:p>
        </p:txBody>
      </p:sp>
    </p:spTree>
    <p:extLst>
      <p:ext uri="{BB962C8B-B14F-4D97-AF65-F5344CB8AC3E}">
        <p14:creationId xmlns:p14="http://schemas.microsoft.com/office/powerpoint/2010/main" val="3633423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10CB56-25FB-B9A6-9AA7-F3E3C93E379C}"/>
              </a:ext>
            </a:extLst>
          </p:cNvPr>
          <p:cNvSpPr>
            <a:spLocks noGrp="1"/>
          </p:cNvSpPr>
          <p:nvPr>
            <p:ph type="title"/>
          </p:nvPr>
        </p:nvSpPr>
        <p:spPr/>
        <p:txBody>
          <a:bodyPr/>
          <a:lstStyle/>
          <a:p>
            <a:r>
              <a:rPr lang="nl-NL"/>
              <a:t>Reporting </a:t>
            </a:r>
            <a:r>
              <a:rPr lang="nl-NL" err="1"/>
              <a:t>and</a:t>
            </a:r>
            <a:r>
              <a:rPr lang="nl-NL"/>
              <a:t> information </a:t>
            </a:r>
          </a:p>
        </p:txBody>
      </p:sp>
      <p:sp>
        <p:nvSpPr>
          <p:cNvPr id="3" name="Tijdelijke aanduiding voor inhoud 2">
            <a:extLst>
              <a:ext uri="{FF2B5EF4-FFF2-40B4-BE49-F238E27FC236}">
                <a16:creationId xmlns:a16="http://schemas.microsoft.com/office/drawing/2014/main" id="{D0B775B4-D539-CF4E-546F-31D9B5930767}"/>
              </a:ext>
            </a:extLst>
          </p:cNvPr>
          <p:cNvSpPr>
            <a:spLocks noGrp="1"/>
          </p:cNvSpPr>
          <p:nvPr>
            <p:ph idx="1"/>
          </p:nvPr>
        </p:nvSpPr>
        <p:spPr/>
        <p:txBody>
          <a:bodyPr vert="horz" lIns="91440" tIns="45720" rIns="91440" bIns="45720" rtlCol="0" anchor="t">
            <a:normAutofit/>
          </a:bodyPr>
          <a:lstStyle/>
          <a:p>
            <a:pPr marL="342900" indent="-342900"/>
            <a:r>
              <a:rPr lang="nl-NL"/>
              <a:t>Feedback</a:t>
            </a:r>
          </a:p>
          <a:p>
            <a:pPr marL="800100" lvl="1" indent="-342900">
              <a:buFont typeface="Courier New" panose="020B0604020202020204" pitchFamily="34" charset="0"/>
              <a:buChar char="o"/>
            </a:pPr>
            <a:r>
              <a:rPr lang="nl-NL"/>
              <a:t>Week 5: on project plan</a:t>
            </a:r>
          </a:p>
          <a:p>
            <a:pPr marL="800100" lvl="1" indent="-342900">
              <a:buFont typeface="Courier New" panose="020B0604020202020204" pitchFamily="34" charset="0"/>
              <a:buChar char="o"/>
            </a:pPr>
            <a:r>
              <a:rPr lang="nl-NL"/>
              <a:t>Week 6: </a:t>
            </a:r>
            <a:r>
              <a:rPr lang="nl-NL" err="1"/>
              <a:t>from</a:t>
            </a:r>
            <a:r>
              <a:rPr lang="nl-NL"/>
              <a:t> </a:t>
            </a:r>
            <a:r>
              <a:rPr lang="nl-NL" err="1"/>
              <a:t>Rurant</a:t>
            </a:r>
            <a:r>
              <a:rPr lang="nl-NL"/>
              <a:t> </a:t>
            </a:r>
            <a:r>
              <a:rPr lang="nl-NL" err="1"/>
              <a:t>if</a:t>
            </a:r>
            <a:r>
              <a:rPr lang="nl-NL"/>
              <a:t> </a:t>
            </a:r>
            <a:r>
              <a:rPr lang="en-GB"/>
              <a:t>available</a:t>
            </a:r>
          </a:p>
          <a:p>
            <a:pPr marL="800100" lvl="1" indent="-342900">
              <a:buFont typeface="Courier New" panose="020B0604020202020204" pitchFamily="34" charset="0"/>
              <a:buChar char="o"/>
            </a:pPr>
            <a:r>
              <a:rPr lang="en-GB"/>
              <a:t>Week 13-14: on concept presentation</a:t>
            </a:r>
          </a:p>
          <a:p>
            <a:pPr marL="800100" lvl="1" indent="-342900">
              <a:buFont typeface="Courier New" panose="020B0604020202020204" pitchFamily="34" charset="0"/>
              <a:buChar char="o"/>
            </a:pPr>
            <a:endParaRPr lang="en-GB"/>
          </a:p>
          <a:p>
            <a:pPr marL="342900" indent="-342900"/>
            <a:r>
              <a:rPr lang="en-GB"/>
              <a:t>Additional information</a:t>
            </a:r>
          </a:p>
          <a:p>
            <a:pPr marL="800100" lvl="1" indent="-342900">
              <a:buFont typeface="Courier New" panose="020B0604020202020204" pitchFamily="34" charset="0"/>
              <a:buChar char="o"/>
            </a:pPr>
            <a:r>
              <a:rPr lang="en-GB"/>
              <a:t>Contact </a:t>
            </a:r>
            <a:r>
              <a:rPr lang="en-GB" err="1"/>
              <a:t>Rurant</a:t>
            </a:r>
            <a:r>
              <a:rPr lang="en-GB"/>
              <a:t> if necessary</a:t>
            </a:r>
          </a:p>
          <a:p>
            <a:pPr marL="800100" lvl="1" indent="-342900">
              <a:buFont typeface="Courier New" panose="020B0604020202020204" pitchFamily="34" charset="0"/>
              <a:buChar char="o"/>
            </a:pPr>
            <a:r>
              <a:rPr lang="en-GB"/>
              <a:t>Contact project coach if necessary</a:t>
            </a:r>
          </a:p>
          <a:p>
            <a:pPr marL="800100" lvl="1" indent="-342900">
              <a:buFont typeface="Courier New" panose="020B0604020202020204" pitchFamily="34" charset="0"/>
              <a:buChar char="o"/>
            </a:pPr>
            <a:endParaRPr lang="en-GB"/>
          </a:p>
          <a:p>
            <a:pPr marL="800100" lvl="1" indent="-342900">
              <a:buFont typeface="Courier New" panose="020B0604020202020204" pitchFamily="34" charset="0"/>
              <a:buChar char="o"/>
            </a:pPr>
            <a:endParaRPr lang="nl-NL"/>
          </a:p>
        </p:txBody>
      </p:sp>
    </p:spTree>
    <p:extLst>
      <p:ext uri="{BB962C8B-B14F-4D97-AF65-F5344CB8AC3E}">
        <p14:creationId xmlns:p14="http://schemas.microsoft.com/office/powerpoint/2010/main" val="4153004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A9758D-59B5-493F-6662-29A6784598F1}"/>
              </a:ext>
            </a:extLst>
          </p:cNvPr>
          <p:cNvSpPr>
            <a:spLocks noGrp="1"/>
          </p:cNvSpPr>
          <p:nvPr>
            <p:ph type="title"/>
          </p:nvPr>
        </p:nvSpPr>
        <p:spPr/>
        <p:txBody>
          <a:bodyPr/>
          <a:lstStyle/>
          <a:p>
            <a:r>
              <a:rPr lang="nl-NL"/>
              <a:t>Project Team </a:t>
            </a:r>
          </a:p>
        </p:txBody>
      </p:sp>
      <p:sp>
        <p:nvSpPr>
          <p:cNvPr id="3" name="Tijdelijke aanduiding voor inhoud 2">
            <a:extLst>
              <a:ext uri="{FF2B5EF4-FFF2-40B4-BE49-F238E27FC236}">
                <a16:creationId xmlns:a16="http://schemas.microsoft.com/office/drawing/2014/main" id="{33C85317-B25F-F02A-6976-9660F8353441}"/>
              </a:ext>
            </a:extLst>
          </p:cNvPr>
          <p:cNvSpPr>
            <a:spLocks noGrp="1"/>
          </p:cNvSpPr>
          <p:nvPr>
            <p:ph idx="1"/>
          </p:nvPr>
        </p:nvSpPr>
        <p:spPr/>
        <p:txBody>
          <a:bodyPr vert="horz" lIns="91440" tIns="45720" rIns="91440" bIns="45720" rtlCol="0" anchor="t">
            <a:normAutofit lnSpcReduction="10000"/>
          </a:bodyPr>
          <a:lstStyle/>
          <a:p>
            <a:r>
              <a:rPr lang="nl-NL"/>
              <a:t>Team lead: </a:t>
            </a:r>
          </a:p>
          <a:p>
            <a:pPr lvl="1">
              <a:buFont typeface="Courier New" panose="020B0604020202020204" pitchFamily="34" charset="0"/>
              <a:buChar char="o"/>
            </a:pPr>
            <a:r>
              <a:rPr lang="fr-FR"/>
              <a:t>Maarten Marx (</a:t>
            </a:r>
            <a:r>
              <a:rPr lang="en-GB"/>
              <a:t>Software development</a:t>
            </a:r>
            <a:r>
              <a:rPr lang="fr-FR"/>
              <a:t>)</a:t>
            </a:r>
            <a:endParaRPr lang="nl-NL"/>
          </a:p>
          <a:p>
            <a:r>
              <a:rPr lang="fr-FR" sz="2000"/>
              <a:t>Case file manager: </a:t>
            </a:r>
          </a:p>
          <a:p>
            <a:pPr lvl="1">
              <a:buFont typeface="Courier New" panose="020B0604020202020204" pitchFamily="34" charset="0"/>
              <a:buChar char="o"/>
            </a:pPr>
            <a:r>
              <a:rPr lang="fr-FR"/>
              <a:t>Lorenzo </a:t>
            </a:r>
            <a:r>
              <a:rPr lang="fr-FR" err="1"/>
              <a:t>Miechielsen</a:t>
            </a:r>
            <a:r>
              <a:rPr lang="fr-FR"/>
              <a:t> (</a:t>
            </a:r>
            <a:r>
              <a:rPr lang="en-GB"/>
              <a:t>Software development</a:t>
            </a:r>
            <a:r>
              <a:rPr lang="fr-FR"/>
              <a:t>)</a:t>
            </a:r>
            <a:endParaRPr lang="fr-FR" sz="1600"/>
          </a:p>
          <a:p>
            <a:r>
              <a:rPr lang="fr-FR" sz="2000"/>
              <a:t>Team </a:t>
            </a:r>
            <a:r>
              <a:rPr lang="en-GB" sz="2000"/>
              <a:t>members</a:t>
            </a:r>
            <a:r>
              <a:rPr lang="fr-FR" sz="2000"/>
              <a:t>:</a:t>
            </a:r>
          </a:p>
          <a:p>
            <a:pPr lvl="1">
              <a:buFont typeface="Courier New" panose="020B0604020202020204" pitchFamily="34" charset="0"/>
              <a:buChar char="o"/>
            </a:pPr>
            <a:r>
              <a:rPr lang="en-GB" err="1"/>
              <a:t>Egemen</a:t>
            </a:r>
            <a:r>
              <a:rPr lang="en-GB"/>
              <a:t> Alkan (AI development)</a:t>
            </a:r>
            <a:endParaRPr lang="en-GB" sz="1600"/>
          </a:p>
          <a:p>
            <a:pPr lvl="1">
              <a:buFont typeface="Courier New" panose="020B0604020202020204" pitchFamily="34" charset="0"/>
              <a:buChar char="o"/>
            </a:pPr>
            <a:r>
              <a:rPr lang="en-GB"/>
              <a:t>Mark </a:t>
            </a:r>
            <a:r>
              <a:rPr lang="en-GB" err="1"/>
              <a:t>Vaikul</a:t>
            </a:r>
            <a:r>
              <a:rPr lang="en-GB"/>
              <a:t> (AI development)</a:t>
            </a:r>
            <a:endParaRPr lang="en-GB">
              <a:solidFill>
                <a:srgbClr val="000000"/>
              </a:solidFill>
            </a:endParaRPr>
          </a:p>
          <a:p>
            <a:pPr lvl="1">
              <a:buFont typeface="Courier New" panose="020B0604020202020204" pitchFamily="34" charset="0"/>
              <a:buChar char="o"/>
            </a:pPr>
            <a:r>
              <a:rPr lang="en-GB"/>
              <a:t>Filip Kolb (Infrastructure)</a:t>
            </a:r>
            <a:endParaRPr lang="en-GB">
              <a:solidFill>
                <a:srgbClr val="000000"/>
              </a:solidFill>
            </a:endParaRPr>
          </a:p>
          <a:p>
            <a:pPr lvl="1">
              <a:buFont typeface="Courier New" panose="020B0604020202020204" pitchFamily="34" charset="0"/>
              <a:buChar char="o"/>
            </a:pPr>
            <a:endParaRPr lang="en-GB"/>
          </a:p>
          <a:p>
            <a:r>
              <a:rPr lang="en-GB"/>
              <a:t>All members will help others in their tasks</a:t>
            </a:r>
          </a:p>
          <a:p>
            <a:endParaRPr lang="nl-NL"/>
          </a:p>
        </p:txBody>
      </p:sp>
    </p:spTree>
    <p:extLst>
      <p:ext uri="{BB962C8B-B14F-4D97-AF65-F5344CB8AC3E}">
        <p14:creationId xmlns:p14="http://schemas.microsoft.com/office/powerpoint/2010/main" val="668231395"/>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Berlij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CD98906E64794FB7909FF0AD2941DE" ma:contentTypeVersion="11" ma:contentTypeDescription="Een nieuw document maken." ma:contentTypeScope="" ma:versionID="78bc765e95a88d27072ed4727fa81ddd">
  <xsd:schema xmlns:xsd="http://www.w3.org/2001/XMLSchema" xmlns:xs="http://www.w3.org/2001/XMLSchema" xmlns:p="http://schemas.microsoft.com/office/2006/metadata/properties" xmlns:ns3="8aff48bd-0a72-4ae8-b15f-4808500310a0" xmlns:ns4="8b899af7-f8ce-422e-8fdd-516699eb93d2" targetNamespace="http://schemas.microsoft.com/office/2006/metadata/properties" ma:root="true" ma:fieldsID="333db1ccabf55a4532c813b43100cf60" ns3:_="" ns4:_="">
    <xsd:import namespace="8aff48bd-0a72-4ae8-b15f-4808500310a0"/>
    <xsd:import namespace="8b899af7-f8ce-422e-8fdd-516699eb93d2"/>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SearchProperties" minOccurs="0"/>
                <xsd:element ref="ns4:MediaServiceObjectDetectorVersions" minOccurs="0"/>
                <xsd:element ref="ns4:_activity" minOccurs="0"/>
                <xsd:element ref="ns4:MediaServiceGenerationTime" minOccurs="0"/>
                <xsd:element ref="ns4:MediaServiceEventHashCode"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ff48bd-0a72-4ae8-b15f-4808500310a0"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element name="SharingHintHash" ma:index="10" nillable="true" ma:displayName="Hint-hash dele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899af7-f8ce-422e-8fdd-516699eb93d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b899af7-f8ce-422e-8fdd-516699eb93d2" xsi:nil="true"/>
  </documentManagement>
</p:properties>
</file>

<file path=customXml/itemProps1.xml><?xml version="1.0" encoding="utf-8"?>
<ds:datastoreItem xmlns:ds="http://schemas.openxmlformats.org/officeDocument/2006/customXml" ds:itemID="{4B365B95-27F2-4718-BC54-F0023C07A51F}">
  <ds:schemaRefs>
    <ds:schemaRef ds:uri="8aff48bd-0a72-4ae8-b15f-4808500310a0"/>
    <ds:schemaRef ds:uri="8b899af7-f8ce-422e-8fdd-516699eb93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C2BC46A-5B01-42A7-8E22-996A26EFAFB8}">
  <ds:schemaRefs>
    <ds:schemaRef ds:uri="http://schemas.microsoft.com/sharepoint/v3/contenttype/forms"/>
  </ds:schemaRefs>
</ds:datastoreItem>
</file>

<file path=customXml/itemProps3.xml><?xml version="1.0" encoding="utf-8"?>
<ds:datastoreItem xmlns:ds="http://schemas.openxmlformats.org/officeDocument/2006/customXml" ds:itemID="{AD35B23A-1779-434B-B3E5-12657ABDD9DE}">
  <ds:schemaRefs>
    <ds:schemaRef ds:uri="8aff48bd-0a72-4ae8-b15f-4808500310a0"/>
    <ds:schemaRef ds:uri="8b899af7-f8ce-422e-8fdd-516699eb93d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TM04033917[[fn=Berlijn]]</Template>
  <TotalTime>75</TotalTime>
  <Words>674</Words>
  <Application>Microsoft Office PowerPoint</Application>
  <PresentationFormat>Widescreen</PresentationFormat>
  <Paragraphs>147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Courier New</vt:lpstr>
      <vt:lpstr>Trebuchet MS</vt:lpstr>
      <vt:lpstr>Wingdings</vt:lpstr>
      <vt:lpstr>Berlijn</vt:lpstr>
      <vt:lpstr>Frank the Bench</vt:lpstr>
      <vt:lpstr>Summary </vt:lpstr>
      <vt:lpstr>Background</vt:lpstr>
      <vt:lpstr>Objective</vt:lpstr>
      <vt:lpstr>Objective</vt:lpstr>
      <vt:lpstr>Objective</vt:lpstr>
      <vt:lpstr>Objective</vt:lpstr>
      <vt:lpstr>Objective</vt:lpstr>
      <vt:lpstr>Business case</vt:lpstr>
      <vt:lpstr>Business case</vt:lpstr>
      <vt:lpstr>Timeline</vt:lpstr>
      <vt:lpstr>Timeline</vt:lpstr>
      <vt:lpstr>Project Scope and Risks</vt:lpstr>
      <vt:lpstr>Project Scope and Risks</vt:lpstr>
      <vt:lpstr>Project Scope and Risks</vt:lpstr>
      <vt:lpstr>Project Scope and Risks</vt:lpstr>
      <vt:lpstr>Project Scope and Risks</vt:lpstr>
      <vt:lpstr>Reporting and information </vt:lpstr>
      <vt:lpstr>Reporting and information </vt:lpstr>
      <vt:lpstr>Project Team 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lorenzo miechielsen</dc:creator>
  <cp:lastModifiedBy>Bram Heyns</cp:lastModifiedBy>
  <cp:revision>3</cp:revision>
  <dcterms:created xsi:type="dcterms:W3CDTF">2024-10-08T07:17:04Z</dcterms:created>
  <dcterms:modified xsi:type="dcterms:W3CDTF">2024-10-14T22:11:53Z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0x01010020CD98906E64794FB7909FF0AD2941DE</vt:lpwstr>
  </property>
  <property fmtid="{D5CDD505-2E9C-101B-9397-08002B2CF9AE}" pid="3" name="MSIP_Label_c337be75-dfbb-4261-9834-ac247c7dde13_Enabled">
    <vt:lpwstr>true</vt:lpwstr>
  </property>
  <property fmtid="{D5CDD505-2E9C-101B-9397-08002B2CF9AE}" pid="4" name="MSIP_Label_c337be75-dfbb-4261-9834-ac247c7dde13_SetDate">
    <vt:lpwstr>2024-10-08T07:17:37Z</vt:lpwstr>
  </property>
  <property fmtid="{D5CDD505-2E9C-101B-9397-08002B2CF9AE}" pid="5" name="MSIP_Label_c337be75-dfbb-4261-9834-ac247c7dde13_Method">
    <vt:lpwstr>Standard</vt:lpwstr>
  </property>
  <property fmtid="{D5CDD505-2E9C-101B-9397-08002B2CF9AE}" pid="6" name="MSIP_Label_c337be75-dfbb-4261-9834-ac247c7dde13_Name">
    <vt:lpwstr>Algemeen</vt:lpwstr>
  </property>
  <property fmtid="{D5CDD505-2E9C-101B-9397-08002B2CF9AE}" pid="7" name="MSIP_Label_c337be75-dfbb-4261-9834-ac247c7dde13_SiteId">
    <vt:lpwstr>77d33cc5-c9b4-4766-95c7-ed5b515e1cce</vt:lpwstr>
  </property>
  <property fmtid="{D5CDD505-2E9C-101B-9397-08002B2CF9AE}" pid="8" name="MSIP_Label_c337be75-dfbb-4261-9834-ac247c7dde13_ActionId">
    <vt:lpwstr>fd621e96-2d94-4913-b8ab-2c7eadb7fb2b</vt:lpwstr>
  </property>
  <property fmtid="{D5CDD505-2E9C-101B-9397-08002B2CF9AE}" pid="9" name="MSIP_Label_c337be75-dfbb-4261-9834-ac247c7dde13_ContentBits">
    <vt:lpwstr>0</vt:lpwstr>
  </property>
</Properties>
</file>