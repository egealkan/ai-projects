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notesMasterIdLst>
    <p:notesMasterId r:id="rId19"/>
  </p:notesMasterIdLst>
  <p:sldIdLst>
    <p:sldId id="256" r:id="rId5"/>
    <p:sldId id="257" r:id="rId6"/>
    <p:sldId id="258" r:id="rId7"/>
    <p:sldId id="259" r:id="rId8"/>
    <p:sldId id="261" r:id="rId9"/>
    <p:sldId id="262" r:id="rId10"/>
    <p:sldId id="265" r:id="rId11"/>
    <p:sldId id="266" r:id="rId12"/>
    <p:sldId id="267" r:id="rId13"/>
    <p:sldId id="268" r:id="rId14"/>
    <p:sldId id="263" r:id="rId15"/>
    <p:sldId id="264" r:id="rId16"/>
    <p:sldId id="269" r:id="rId17"/>
    <p:sldId id="270" r:id="rId18"/>
  </p:sldIdLst>
  <p:sldSz cx="14630400" cy="8229600"/>
  <p:notesSz cx="8229600" cy="14630400"/>
  <p:embeddedFontLst>
    <p:embeddedFont>
      <p:font typeface="Barlow Bold" panose="00000800000000000000" charset="0"/>
      <p:bold r:id="rId20"/>
    </p:embeddedFont>
    <p:embeddedFont>
      <p:font typeface="Montserrat" panose="00000500000000000000" pitchFamily="2" charset="0"/>
      <p:regular r:id="rId21"/>
      <p:bold r:id="rId22"/>
      <p:italic r:id="rId23"/>
      <p:boldItalic r:id="rId24"/>
    </p:embeddedFont>
  </p:embeddedFontLst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9088" autoAdjust="0"/>
  </p:normalViewPr>
  <p:slideViewPr>
    <p:cSldViewPr snapToGrid="0" snapToObjects="1">
      <p:cViewPr varScale="1">
        <p:scale>
          <a:sx n="56" d="100"/>
          <a:sy n="56" d="100"/>
        </p:scale>
        <p:origin x="1020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2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7804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Frames cropped to avoid model from memorizing wheel </a:t>
            </a:r>
            <a:r>
              <a:rPr lang="en-US" dirty="0" err="1"/>
              <a:t>trurns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Randomized crop and resize it automatically to 224x224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 i="0" dirty="0" err="1">
                <a:effectLst/>
                <a:latin typeface="gg sans"/>
              </a:rPr>
              <a:t>ResNet</a:t>
            </a:r>
            <a:r>
              <a:rPr lang="en-GB" b="0" i="0" dirty="0">
                <a:effectLst/>
                <a:latin typeface="gg sans"/>
              </a:rPr>
              <a:t> makes it easier to train deep networks by adding shortcuts so the model can learn better, faster, and with fewer errors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C32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1.png"/><Relationship Id="rId4" Type="http://schemas.openxmlformats.org/officeDocument/2006/relationships/image" Target="../media/image2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50436" y="984533"/>
            <a:ext cx="7415927" cy="2298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800"/>
              </a:lnSpc>
              <a:buNone/>
            </a:pPr>
            <a:r>
              <a:rPr lang="en-US" sz="60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Autonomous Driving Project (Trackmania)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6350435" y="3996666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 learning model for Trackmania autonomous driving.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50435" y="4669369"/>
            <a:ext cx="74159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Goal: Navigate vehicle using directional commands in real-time gameplay.</a:t>
            </a:r>
            <a:endParaRPr lang="en-US" sz="19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151740CC-FE8B-E4A4-5EC3-B50752E671B7}"/>
              </a:ext>
            </a:extLst>
          </p:cNvPr>
          <p:cNvSpPr/>
          <p:nvPr/>
        </p:nvSpPr>
        <p:spPr>
          <a:xfrm>
            <a:off x="10980036" y="6929218"/>
            <a:ext cx="2786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 err="1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Katoo</a:t>
            </a:r>
            <a:r>
              <a:rPr lang="en-US" sz="19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Ege, Francesco</a:t>
            </a:r>
            <a:endParaRPr lang="en-US" sz="1900" dirty="0"/>
          </a:p>
        </p:txBody>
      </p:sp>
      <p:pic>
        <p:nvPicPr>
          <p:cNvPr id="1026" name="Picture 2" descr="Training - 16 - Map Info » TrackmaniaExchange">
            <a:extLst>
              <a:ext uri="{FF2B5EF4-FFF2-40B4-BE49-F238E27FC236}">
                <a16:creationId xmlns:a16="http://schemas.microsoft.com/office/drawing/2014/main" id="{A122FFEA-700F-F668-A323-ED09C70DB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400" y="5136418"/>
            <a:ext cx="4118400" cy="231660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rackmania® Club Access 1 Year PS4">
            <a:extLst>
              <a:ext uri="{FF2B5EF4-FFF2-40B4-BE49-F238E27FC236}">
                <a16:creationId xmlns:a16="http://schemas.microsoft.com/office/drawing/2014/main" id="{50372D3C-927B-E388-33E5-0878ACAB9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200" y="504169"/>
            <a:ext cx="2743200" cy="41148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4623" y="809268"/>
            <a:ext cx="6822400" cy="746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7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Capture and Logging</a:t>
            </a:r>
            <a:endParaRPr lang="en-US" sz="4700" dirty="0"/>
          </a:p>
        </p:txBody>
      </p:sp>
      <p:sp>
        <p:nvSpPr>
          <p:cNvPr id="4" name="Shape 1"/>
          <p:cNvSpPr/>
          <p:nvPr/>
        </p:nvSpPr>
        <p:spPr>
          <a:xfrm>
            <a:off x="1119902" y="1896547"/>
            <a:ext cx="30480" cy="5523786"/>
          </a:xfrm>
          <a:prstGeom prst="roundRect">
            <a:avLst>
              <a:gd name="adj" fmla="val 670428"/>
            </a:avLst>
          </a:prstGeom>
          <a:solidFill>
            <a:srgbClr val="60646A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5" name="Shape 2"/>
          <p:cNvSpPr/>
          <p:nvPr/>
        </p:nvSpPr>
        <p:spPr>
          <a:xfrm>
            <a:off x="1360051" y="2392085"/>
            <a:ext cx="794623" cy="30480"/>
          </a:xfrm>
          <a:prstGeom prst="roundRect">
            <a:avLst>
              <a:gd name="adj" fmla="val 670428"/>
            </a:avLst>
          </a:prstGeom>
          <a:solidFill>
            <a:srgbClr val="60646A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6" name="Shape 3"/>
          <p:cNvSpPr/>
          <p:nvPr/>
        </p:nvSpPr>
        <p:spPr>
          <a:xfrm>
            <a:off x="879753" y="2151936"/>
            <a:ext cx="510778" cy="510778"/>
          </a:xfrm>
          <a:prstGeom prst="roundRect">
            <a:avLst>
              <a:gd name="adj" fmla="val 40007"/>
            </a:avLst>
          </a:prstGeom>
          <a:solidFill>
            <a:srgbClr val="282C32"/>
          </a:solidFill>
          <a:ln/>
          <a:effectLst>
            <a:outerShdw blurRad="55880" dist="2794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7" name="Text 4"/>
          <p:cNvSpPr/>
          <p:nvPr/>
        </p:nvSpPr>
        <p:spPr>
          <a:xfrm>
            <a:off x="1071682" y="2228017"/>
            <a:ext cx="126921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2383869" y="2123480"/>
            <a:ext cx="2987397" cy="373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Custom Script</a:t>
            </a:r>
            <a:endParaRPr lang="en-US" sz="2350" dirty="0"/>
          </a:p>
        </p:txBody>
      </p:sp>
      <p:sp>
        <p:nvSpPr>
          <p:cNvPr id="9" name="Text 6"/>
          <p:cNvSpPr/>
          <p:nvPr/>
        </p:nvSpPr>
        <p:spPr>
          <a:xfrm>
            <a:off x="2383869" y="2633067"/>
            <a:ext cx="5965508" cy="726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Captured frames and key presses to simulate human driving. 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360051" y="4308991"/>
            <a:ext cx="794623" cy="30480"/>
          </a:xfrm>
          <a:prstGeom prst="roundRect">
            <a:avLst>
              <a:gd name="adj" fmla="val 670428"/>
            </a:avLst>
          </a:prstGeom>
          <a:solidFill>
            <a:srgbClr val="60646A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1" name="Shape 8"/>
          <p:cNvSpPr/>
          <p:nvPr/>
        </p:nvSpPr>
        <p:spPr>
          <a:xfrm>
            <a:off x="879753" y="4068842"/>
            <a:ext cx="510778" cy="510778"/>
          </a:xfrm>
          <a:prstGeom prst="roundRect">
            <a:avLst>
              <a:gd name="adj" fmla="val 40007"/>
            </a:avLst>
          </a:prstGeom>
          <a:solidFill>
            <a:srgbClr val="282C32"/>
          </a:solidFill>
          <a:ln/>
          <a:effectLst>
            <a:outerShdw blurRad="55880" dist="2794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2" name="Text 9"/>
          <p:cNvSpPr/>
          <p:nvPr/>
        </p:nvSpPr>
        <p:spPr>
          <a:xfrm>
            <a:off x="1034772" y="4144923"/>
            <a:ext cx="200739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2383869" y="4040386"/>
            <a:ext cx="2987397" cy="373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Dataset Expansion</a:t>
            </a:r>
            <a:endParaRPr lang="en-US" sz="2350" dirty="0"/>
          </a:p>
        </p:txBody>
      </p:sp>
      <p:sp>
        <p:nvSpPr>
          <p:cNvPr id="14" name="Text 11"/>
          <p:cNvSpPr/>
          <p:nvPr/>
        </p:nvSpPr>
        <p:spPr>
          <a:xfrm>
            <a:off x="2383869" y="4549973"/>
            <a:ext cx="5965508" cy="726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Iteratively expanded dataset over multiple collection rounds.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1360051" y="6225897"/>
            <a:ext cx="794623" cy="30480"/>
          </a:xfrm>
          <a:prstGeom prst="roundRect">
            <a:avLst>
              <a:gd name="adj" fmla="val 670428"/>
            </a:avLst>
          </a:prstGeom>
          <a:solidFill>
            <a:srgbClr val="60646A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6" name="Shape 13"/>
          <p:cNvSpPr/>
          <p:nvPr/>
        </p:nvSpPr>
        <p:spPr>
          <a:xfrm>
            <a:off x="879753" y="5985748"/>
            <a:ext cx="510778" cy="510778"/>
          </a:xfrm>
          <a:prstGeom prst="roundRect">
            <a:avLst>
              <a:gd name="adj" fmla="val 40007"/>
            </a:avLst>
          </a:prstGeom>
          <a:solidFill>
            <a:srgbClr val="282C32"/>
          </a:solidFill>
          <a:ln/>
          <a:effectLst>
            <a:outerShdw blurRad="55880" dist="2794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7" name="Text 14"/>
          <p:cNvSpPr/>
          <p:nvPr/>
        </p:nvSpPr>
        <p:spPr>
          <a:xfrm>
            <a:off x="1038344" y="6061829"/>
            <a:ext cx="193596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2383869" y="5957292"/>
            <a:ext cx="3435548" cy="373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5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Turn Underrepresentation</a:t>
            </a:r>
            <a:endParaRPr lang="en-US" sz="2350" dirty="0"/>
          </a:p>
        </p:txBody>
      </p:sp>
      <p:sp>
        <p:nvSpPr>
          <p:cNvPr id="19" name="Text 16"/>
          <p:cNvSpPr/>
          <p:nvPr/>
        </p:nvSpPr>
        <p:spPr>
          <a:xfrm>
            <a:off x="2383869" y="6466880"/>
            <a:ext cx="5965508" cy="726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Impacting real-world model performance.</a:t>
            </a:r>
            <a:endParaRPr lang="en-US" sz="17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F707623-E142-EDDC-BD4C-15479316B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4979" y="0"/>
            <a:ext cx="5462584" cy="82296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0846" y="578704"/>
            <a:ext cx="9722644" cy="812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6350"/>
              </a:lnSpc>
              <a:buNone/>
            </a:pPr>
            <a:r>
              <a:rPr lang="en-US" sz="51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Augmentation and Balancing</a:t>
            </a:r>
            <a:endParaRPr lang="en-US" sz="5100" dirty="0"/>
          </a:p>
        </p:txBody>
      </p:sp>
      <p:sp>
        <p:nvSpPr>
          <p:cNvPr id="4" name="Shape 1"/>
          <p:cNvSpPr/>
          <p:nvPr/>
        </p:nvSpPr>
        <p:spPr>
          <a:xfrm>
            <a:off x="1236420" y="1538943"/>
            <a:ext cx="4136231" cy="2243852"/>
          </a:xfrm>
          <a:prstGeom prst="roundRect">
            <a:avLst>
              <a:gd name="adj" fmla="val 9903"/>
            </a:avLst>
          </a:prstGeom>
          <a:solidFill>
            <a:srgbClr val="282C32"/>
          </a:solidFill>
          <a:ln/>
          <a:effectLst>
            <a:outerShdw blurRad="60960" dist="3048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5" name="Text 2"/>
          <p:cNvSpPr/>
          <p:nvPr/>
        </p:nvSpPr>
        <p:spPr>
          <a:xfrm>
            <a:off x="1483236" y="1721765"/>
            <a:ext cx="3642598" cy="812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55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Augmentation Techniques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1483236" y="2681885"/>
            <a:ext cx="3642598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Employed to expand dataset and improve generalization.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1236420" y="3599893"/>
            <a:ext cx="4136231" cy="2243852"/>
          </a:xfrm>
          <a:prstGeom prst="roundRect">
            <a:avLst>
              <a:gd name="adj" fmla="val 9903"/>
            </a:avLst>
          </a:prstGeom>
          <a:solidFill>
            <a:srgbClr val="282C32"/>
          </a:solidFill>
          <a:ln/>
          <a:effectLst>
            <a:outerShdw blurRad="60960" dist="3048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8" name="Text 5"/>
          <p:cNvSpPr/>
          <p:nvPr/>
        </p:nvSpPr>
        <p:spPr>
          <a:xfrm>
            <a:off x="1483237" y="3740458"/>
            <a:ext cx="3248501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55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Balance Issues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1483237" y="4294575"/>
            <a:ext cx="3642598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imbalance persisted, affecting model performance.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1236420" y="5407044"/>
            <a:ext cx="4136231" cy="2243852"/>
          </a:xfrm>
          <a:prstGeom prst="roundRect">
            <a:avLst>
              <a:gd name="adj" fmla="val 9903"/>
            </a:avLst>
          </a:prstGeom>
          <a:solidFill>
            <a:srgbClr val="282C32"/>
          </a:solidFill>
          <a:ln/>
          <a:effectLst>
            <a:outerShdw blurRad="60960" dist="3048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1" name="Text 8"/>
          <p:cNvSpPr/>
          <p:nvPr/>
        </p:nvSpPr>
        <p:spPr>
          <a:xfrm>
            <a:off x="1547773" y="5656893"/>
            <a:ext cx="3248501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55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Turn Data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1483237" y="6207978"/>
            <a:ext cx="3642598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Focus on increasing representation of turn scenarios.</a:t>
            </a:r>
            <a:endParaRPr lang="en-US" sz="1900" dirty="0"/>
          </a:p>
        </p:txBody>
      </p:sp>
      <p:pic>
        <p:nvPicPr>
          <p:cNvPr id="26" name="Picture 25" descr="A graph of a bar chart&#10;&#10;Description automatically generated with medium confidence">
            <a:extLst>
              <a:ext uri="{FF2B5EF4-FFF2-40B4-BE49-F238E27FC236}">
                <a16:creationId xmlns:a16="http://schemas.microsoft.com/office/drawing/2014/main" id="{68BC8C7B-278D-A2D6-FB7B-40D1075C0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992" y="2008570"/>
            <a:ext cx="7315215" cy="457200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0437" y="1129047"/>
            <a:ext cx="11499294" cy="812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6350"/>
              </a:lnSpc>
              <a:buNone/>
            </a:pPr>
            <a:r>
              <a:rPr lang="en-US" sz="51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Initial Models: ResNet-18 and ResNet-34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950437" y="2558273"/>
            <a:ext cx="3766423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5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Non-Pretrained ResNet-18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950437" y="3211093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Baseline with 65-70% accuracy, struggled with turns.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710329" y="2558273"/>
            <a:ext cx="3248501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5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Pretrained ResNet-18 and ResNet-34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7710329" y="3211093"/>
            <a:ext cx="61500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Improved straight paths, issues in turn interpretation remained.</a:t>
            </a:r>
            <a:endParaRPr lang="en-US" sz="1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60F995-6987-9521-12A6-2AD16BA4B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309" y="4248009"/>
            <a:ext cx="4638420" cy="33768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0A8AFB-C623-309B-D34E-FF26EBE84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4509" y="4242882"/>
            <a:ext cx="4815221" cy="338192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39986" y="1054953"/>
            <a:ext cx="6315670" cy="789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6200"/>
              </a:lnSpc>
              <a:buNone/>
            </a:pPr>
            <a:r>
              <a:rPr lang="en-US" sz="49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Dataset Restructuring</a:t>
            </a:r>
            <a:endParaRPr lang="en-US" sz="49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0" y="2022990"/>
            <a:ext cx="1199912" cy="191988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39942" y="2254043"/>
            <a:ext cx="3157776" cy="394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Reorganization</a:t>
            </a:r>
            <a:endParaRPr lang="en-US" sz="2450" dirty="0"/>
          </a:p>
        </p:txBody>
      </p:sp>
      <p:sp>
        <p:nvSpPr>
          <p:cNvPr id="6" name="Text 2"/>
          <p:cNvSpPr/>
          <p:nvPr/>
        </p:nvSpPr>
        <p:spPr>
          <a:xfrm>
            <a:off x="1251466" y="2801540"/>
            <a:ext cx="3496099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Restructured data for </a:t>
            </a:r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better distribution control.</a:t>
            </a:r>
            <a:endParaRPr lang="en-US" sz="1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3976" y="2053678"/>
            <a:ext cx="1199912" cy="191988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04442" y="2293589"/>
            <a:ext cx="3157776" cy="394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Folder-Based</a:t>
            </a:r>
            <a:endParaRPr lang="en-US" sz="2450" dirty="0"/>
          </a:p>
        </p:txBody>
      </p:sp>
      <p:sp>
        <p:nvSpPr>
          <p:cNvPr id="9" name="Text 4"/>
          <p:cNvSpPr/>
          <p:nvPr/>
        </p:nvSpPr>
        <p:spPr>
          <a:xfrm>
            <a:off x="5889065" y="2816683"/>
            <a:ext cx="326956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Organized dataset into </a:t>
            </a:r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 folder system.</a:t>
            </a:r>
            <a:endParaRPr lang="en-US" sz="1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2772" y="2053678"/>
            <a:ext cx="1199912" cy="191988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882531" y="2293589"/>
            <a:ext cx="3157776" cy="394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Retraining</a:t>
            </a:r>
            <a:endParaRPr lang="en-US" sz="2450" dirty="0"/>
          </a:p>
        </p:txBody>
      </p:sp>
      <p:sp>
        <p:nvSpPr>
          <p:cNvPr id="12" name="Text 6"/>
          <p:cNvSpPr/>
          <p:nvPr/>
        </p:nvSpPr>
        <p:spPr>
          <a:xfrm>
            <a:off x="10544208" y="2817061"/>
            <a:ext cx="3346252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Models retrained on </a:t>
            </a:r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newly structured dataset.</a:t>
            </a:r>
            <a:endParaRPr lang="en-US" sz="18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2D41E58-B040-79CA-76E8-468FCDAD89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8746" y="4440590"/>
            <a:ext cx="9192908" cy="2734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510018" y="823480"/>
            <a:ext cx="7610363" cy="2436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350"/>
              </a:lnSpc>
              <a:buNone/>
            </a:pPr>
            <a:r>
              <a:rPr lang="en-US" sz="51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Advanced Models: ResNet-34 and ResNet-50</a:t>
            </a:r>
            <a:endParaRPr lang="en-US" sz="5100" dirty="0"/>
          </a:p>
        </p:txBody>
      </p:sp>
      <p:sp>
        <p:nvSpPr>
          <p:cNvPr id="4" name="Shape 1"/>
          <p:cNvSpPr/>
          <p:nvPr/>
        </p:nvSpPr>
        <p:spPr>
          <a:xfrm>
            <a:off x="537860" y="4066259"/>
            <a:ext cx="7415927" cy="2150031"/>
          </a:xfrm>
          <a:prstGeom prst="roundRect">
            <a:avLst>
              <a:gd name="adj" fmla="val 10335"/>
            </a:avLst>
          </a:prstGeom>
          <a:noFill/>
          <a:ln w="1524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BE"/>
          </a:p>
        </p:txBody>
      </p:sp>
      <p:sp>
        <p:nvSpPr>
          <p:cNvPr id="5" name="Shape 2"/>
          <p:cNvSpPr/>
          <p:nvPr/>
        </p:nvSpPr>
        <p:spPr>
          <a:xfrm>
            <a:off x="553100" y="4081499"/>
            <a:ext cx="7384613" cy="7065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6" name="Text 3"/>
          <p:cNvSpPr/>
          <p:nvPr/>
        </p:nvSpPr>
        <p:spPr>
          <a:xfrm>
            <a:off x="800750" y="4237233"/>
            <a:ext cx="196381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265820" y="4237233"/>
            <a:ext cx="196000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Pretrained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5727080" y="4237233"/>
            <a:ext cx="196381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Non-Pretrained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53100" y="4788016"/>
            <a:ext cx="7384613" cy="70651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0" name="Text 7"/>
          <p:cNvSpPr/>
          <p:nvPr/>
        </p:nvSpPr>
        <p:spPr>
          <a:xfrm>
            <a:off x="800750" y="4943750"/>
            <a:ext cx="196381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ResNet-34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265820" y="4943750"/>
            <a:ext cx="196000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chemeClr val="bg1"/>
                </a:solidFill>
              </a:rPr>
              <a:t>~95% accuracy</a:t>
            </a:r>
          </a:p>
        </p:txBody>
      </p:sp>
      <p:sp>
        <p:nvSpPr>
          <p:cNvPr id="12" name="Text 9"/>
          <p:cNvSpPr/>
          <p:nvPr/>
        </p:nvSpPr>
        <p:spPr>
          <a:xfrm>
            <a:off x="5727080" y="4943750"/>
            <a:ext cx="196381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chemeClr val="bg1"/>
                </a:solidFill>
              </a:rPr>
              <a:t>~85% accuracy</a:t>
            </a:r>
          </a:p>
        </p:txBody>
      </p:sp>
      <p:sp>
        <p:nvSpPr>
          <p:cNvPr id="13" name="Shape 10"/>
          <p:cNvSpPr/>
          <p:nvPr/>
        </p:nvSpPr>
        <p:spPr>
          <a:xfrm>
            <a:off x="553100" y="5494533"/>
            <a:ext cx="7384613" cy="7065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4" name="Text 11"/>
          <p:cNvSpPr/>
          <p:nvPr/>
        </p:nvSpPr>
        <p:spPr>
          <a:xfrm>
            <a:off x="800750" y="5650267"/>
            <a:ext cx="196381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ResNet-50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3265820" y="5650267"/>
            <a:ext cx="196000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chemeClr val="bg1"/>
                </a:solidFill>
              </a:rPr>
              <a:t>~95% accuracy</a:t>
            </a:r>
          </a:p>
        </p:txBody>
      </p:sp>
      <p:sp>
        <p:nvSpPr>
          <p:cNvPr id="16" name="Text 13"/>
          <p:cNvSpPr/>
          <p:nvPr/>
        </p:nvSpPr>
        <p:spPr>
          <a:xfrm>
            <a:off x="5727080" y="5650267"/>
            <a:ext cx="196381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chemeClr val="bg1"/>
                </a:solidFill>
              </a:rPr>
              <a:t>~85% accuracy</a:t>
            </a:r>
          </a:p>
        </p:txBody>
      </p:sp>
      <p:pic>
        <p:nvPicPr>
          <p:cNvPr id="18" name="Picture 17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2ABED99E-5A54-E6B3-9699-904233888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6842" y="3942695"/>
            <a:ext cx="5921772" cy="2886864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9" name="Text 5">
            <a:extLst>
              <a:ext uri="{FF2B5EF4-FFF2-40B4-BE49-F238E27FC236}">
                <a16:creationId xmlns:a16="http://schemas.microsoft.com/office/drawing/2014/main" id="{427B10E8-3E48-58BC-49C0-17AB544598B5}"/>
              </a:ext>
            </a:extLst>
          </p:cNvPr>
          <p:cNvSpPr/>
          <p:nvPr/>
        </p:nvSpPr>
        <p:spPr>
          <a:xfrm>
            <a:off x="10061006" y="3304988"/>
            <a:ext cx="277659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Pretrained ResNet-50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33590" y="717529"/>
            <a:ext cx="9215209" cy="775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100"/>
              </a:lnSpc>
              <a:buNone/>
            </a:pPr>
            <a:r>
              <a:rPr lang="en-US" sz="40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Training Techniques and Optimization</a:t>
            </a:r>
            <a:endParaRPr lang="en-US" sz="40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91" y="1946491"/>
            <a:ext cx="494228" cy="4942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91191" y="2638363"/>
            <a:ext cx="2601635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One-Cycle Policy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591191" y="3082109"/>
            <a:ext cx="7760018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Used for faster convergence, limited turn prediction improvement.</a:t>
            </a:r>
            <a:endParaRPr lang="en-US" sz="15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91" y="3740484"/>
            <a:ext cx="494228" cy="49422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1191" y="4432356"/>
            <a:ext cx="2645093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Dropout Regularization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591191" y="4876102"/>
            <a:ext cx="7760018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Applied to reduce overfitting, minimal impact on turns.</a:t>
            </a:r>
            <a:endParaRPr lang="en-US" sz="15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91" y="5544300"/>
            <a:ext cx="494228" cy="4942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91191" y="6236172"/>
            <a:ext cx="2793325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Mixed Precision Training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591191" y="6679918"/>
            <a:ext cx="7760018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Allowed for larger models within resource limits.</a:t>
            </a:r>
            <a:endParaRPr lang="en-US" sz="15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E8C9208-688D-DC2F-2A50-9DAB014E45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0932" y="1968334"/>
            <a:ext cx="6452035" cy="12461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Picture 15" descr="A graph with a line and a line&#10;&#10;Description automatically generated with medium confidence">
            <a:extLst>
              <a:ext uri="{FF2B5EF4-FFF2-40B4-BE49-F238E27FC236}">
                <a16:creationId xmlns:a16="http://schemas.microsoft.com/office/drawing/2014/main" id="{4EF2AF3C-06D7-CE17-2C82-7DE6217B84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0932" y="3896807"/>
            <a:ext cx="6382779" cy="311160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6308" y="850964"/>
            <a:ext cx="7484983" cy="1559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Real-Time Autonomous Driving</a:t>
            </a:r>
            <a:endParaRPr lang="en-US" sz="4900" dirty="0"/>
          </a:p>
        </p:txBody>
      </p:sp>
      <p:sp>
        <p:nvSpPr>
          <p:cNvPr id="4" name="Shape 1"/>
          <p:cNvSpPr/>
          <p:nvPr/>
        </p:nvSpPr>
        <p:spPr>
          <a:xfrm>
            <a:off x="606308" y="2765608"/>
            <a:ext cx="7484983" cy="1384935"/>
          </a:xfrm>
          <a:prstGeom prst="roundRect">
            <a:avLst>
              <a:gd name="adj" fmla="val 15402"/>
            </a:avLst>
          </a:prstGeom>
          <a:solidFill>
            <a:srgbClr val="282C32"/>
          </a:solidFill>
          <a:ln/>
          <a:effectLst>
            <a:outerShdw blurRad="58420" dist="2921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5" name="Text 2"/>
          <p:cNvSpPr/>
          <p:nvPr/>
        </p:nvSpPr>
        <p:spPr>
          <a:xfrm>
            <a:off x="843243" y="3002542"/>
            <a:ext cx="3118485" cy="389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Capture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843243" y="3534394"/>
            <a:ext cx="7011114" cy="379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50"/>
              </a:lnSpc>
              <a:buNone/>
            </a:pPr>
            <a:r>
              <a:rPr lang="en-US" sz="18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frame capture from Trackmania gameplay.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606308" y="4387477"/>
            <a:ext cx="7484983" cy="1384935"/>
          </a:xfrm>
          <a:prstGeom prst="roundRect">
            <a:avLst>
              <a:gd name="adj" fmla="val 15402"/>
            </a:avLst>
          </a:prstGeom>
          <a:solidFill>
            <a:srgbClr val="282C32"/>
          </a:solidFill>
          <a:ln/>
          <a:effectLst>
            <a:outerShdw blurRad="58420" dist="2921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8" name="Text 5"/>
          <p:cNvSpPr/>
          <p:nvPr/>
        </p:nvSpPr>
        <p:spPr>
          <a:xfrm>
            <a:off x="843243" y="4624411"/>
            <a:ext cx="3118485" cy="389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Process</a:t>
            </a:r>
            <a:endParaRPr lang="en-US" sz="2450" dirty="0"/>
          </a:p>
        </p:txBody>
      </p:sp>
      <p:sp>
        <p:nvSpPr>
          <p:cNvPr id="9" name="Text 6"/>
          <p:cNvSpPr/>
          <p:nvPr/>
        </p:nvSpPr>
        <p:spPr>
          <a:xfrm>
            <a:off x="843243" y="5156264"/>
            <a:ext cx="7011114" cy="379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50"/>
              </a:lnSpc>
              <a:buNone/>
            </a:pPr>
            <a:r>
              <a:rPr lang="en-US" sz="18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Frame processing and action prediction.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606308" y="6009346"/>
            <a:ext cx="7484983" cy="1384935"/>
          </a:xfrm>
          <a:prstGeom prst="roundRect">
            <a:avLst>
              <a:gd name="adj" fmla="val 15402"/>
            </a:avLst>
          </a:prstGeom>
          <a:solidFill>
            <a:srgbClr val="282C32"/>
          </a:solidFill>
          <a:ln/>
          <a:effectLst>
            <a:outerShdw blurRad="58420" dist="2921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1" name="Text 8"/>
          <p:cNvSpPr/>
          <p:nvPr/>
        </p:nvSpPr>
        <p:spPr>
          <a:xfrm>
            <a:off x="843243" y="6246281"/>
            <a:ext cx="3118485" cy="389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Drive</a:t>
            </a:r>
            <a:endParaRPr lang="en-US" sz="2450" dirty="0"/>
          </a:p>
        </p:txBody>
      </p:sp>
      <p:sp>
        <p:nvSpPr>
          <p:cNvPr id="12" name="Text 9"/>
          <p:cNvSpPr/>
          <p:nvPr/>
        </p:nvSpPr>
        <p:spPr>
          <a:xfrm>
            <a:off x="843243" y="6778133"/>
            <a:ext cx="7011114" cy="379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950"/>
              </a:lnSpc>
              <a:buNone/>
            </a:pPr>
            <a:r>
              <a:rPr lang="en-US" sz="18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Predicted actions applied for autonomous vehicle control.</a:t>
            </a:r>
            <a:endParaRPr lang="en-US" sz="1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0DB3CA6-CB4A-3796-4415-1E2E3FDCA6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50"/>
          <a:stretch/>
        </p:blipFill>
        <p:spPr>
          <a:xfrm>
            <a:off x="8424000" y="2134"/>
            <a:ext cx="6206400" cy="822746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3299" y="1197598"/>
            <a:ext cx="6907292" cy="812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6350"/>
              </a:lnSpc>
              <a:buNone/>
            </a:pPr>
            <a:r>
              <a:rPr lang="en-US" sz="51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Performance Evaluation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864037" y="2406529"/>
            <a:ext cx="3248501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5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Confusion Matrix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64037" y="3059349"/>
            <a:ext cx="38988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Misclassifications of turns as straight paths.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372695" y="2406529"/>
            <a:ext cx="3248501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5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Top Loss Frames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5372695" y="3059349"/>
            <a:ext cx="389882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loss in turn scenarios.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881354" y="2406529"/>
            <a:ext cx="3248501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5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Gameplay Testing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881354" y="3059349"/>
            <a:ext cx="3898821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Real-world limitations despite high validation accuracy.</a:t>
            </a:r>
            <a:endParaRPr lang="en-US" sz="1900" dirty="0"/>
          </a:p>
        </p:txBody>
      </p:sp>
      <p:pic>
        <p:nvPicPr>
          <p:cNvPr id="11" name="Picture 10" descr="A blue and white squares with white text&#10;&#10;Description automatically generated">
            <a:extLst>
              <a:ext uri="{FF2B5EF4-FFF2-40B4-BE49-F238E27FC236}">
                <a16:creationId xmlns:a16="http://schemas.microsoft.com/office/drawing/2014/main" id="{5BF2136D-CA83-6F1D-9F3E-60DFF80A36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969" r="18389"/>
          <a:stretch/>
        </p:blipFill>
        <p:spPr>
          <a:xfrm>
            <a:off x="708068" y="4391023"/>
            <a:ext cx="3168000" cy="246543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3" name="Picture 12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17DEBE62-73B0-6F49-2BD6-419F642DA0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076" r="8430"/>
          <a:stretch/>
        </p:blipFill>
        <p:spPr>
          <a:xfrm>
            <a:off x="4394431" y="4391023"/>
            <a:ext cx="4176000" cy="246784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6" name="Picture 15" descr="A graph with a line and a line&#10;&#10;Description automatically generated with medium confidence">
            <a:extLst>
              <a:ext uri="{FF2B5EF4-FFF2-40B4-BE49-F238E27FC236}">
                <a16:creationId xmlns:a16="http://schemas.microsoft.com/office/drawing/2014/main" id="{60629C48-F009-D6BF-4334-790FDF786C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6958" y="4391023"/>
            <a:ext cx="5057292" cy="246543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68693" y="1844630"/>
            <a:ext cx="10867192" cy="733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750"/>
              </a:lnSpc>
              <a:buNone/>
            </a:pPr>
            <a:r>
              <a:rPr lang="en-US" sz="46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Limitations and Future Recommendations</a:t>
            </a:r>
            <a:endParaRPr lang="en-US" sz="4600" dirty="0"/>
          </a:p>
        </p:txBody>
      </p:sp>
      <p:sp>
        <p:nvSpPr>
          <p:cNvPr id="4" name="Shape 1"/>
          <p:cNvSpPr/>
          <p:nvPr/>
        </p:nvSpPr>
        <p:spPr>
          <a:xfrm>
            <a:off x="968693" y="3163128"/>
            <a:ext cx="501610" cy="501610"/>
          </a:xfrm>
          <a:prstGeom prst="roundRect">
            <a:avLst>
              <a:gd name="adj" fmla="val 40001"/>
            </a:avLst>
          </a:prstGeom>
          <a:solidFill>
            <a:srgbClr val="282C32"/>
          </a:solidFill>
          <a:ln/>
          <a:effectLst>
            <a:outerShdw blurRad="54610" dist="2667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5" name="Text 2"/>
          <p:cNvSpPr/>
          <p:nvPr/>
        </p:nvSpPr>
        <p:spPr>
          <a:xfrm>
            <a:off x="1157169" y="3237899"/>
            <a:ext cx="124658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1693188" y="3163128"/>
            <a:ext cx="2933343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Imbalance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693188" y="3663548"/>
            <a:ext cx="5699046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Poor turn performance due to straight path dominance.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615118" y="3163128"/>
            <a:ext cx="501610" cy="501610"/>
          </a:xfrm>
          <a:prstGeom prst="roundRect">
            <a:avLst>
              <a:gd name="adj" fmla="val 40001"/>
            </a:avLst>
          </a:prstGeom>
          <a:solidFill>
            <a:srgbClr val="282C32"/>
          </a:solidFill>
          <a:ln/>
          <a:effectLst>
            <a:outerShdw blurRad="54610" dist="2667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9" name="Text 6"/>
          <p:cNvSpPr/>
          <p:nvPr/>
        </p:nvSpPr>
        <p:spPr>
          <a:xfrm>
            <a:off x="7767280" y="3237899"/>
            <a:ext cx="197168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750" dirty="0"/>
          </a:p>
        </p:txBody>
      </p:sp>
      <p:sp>
        <p:nvSpPr>
          <p:cNvPr id="10" name="Text 7"/>
          <p:cNvSpPr/>
          <p:nvPr/>
        </p:nvSpPr>
        <p:spPr>
          <a:xfrm>
            <a:off x="8339614" y="3163128"/>
            <a:ext cx="2933343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Model Overfitting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8339614" y="3663548"/>
            <a:ext cx="569904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test accuracy, poor real-world generalization.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968693" y="4850363"/>
            <a:ext cx="501610" cy="501610"/>
          </a:xfrm>
          <a:prstGeom prst="roundRect">
            <a:avLst>
              <a:gd name="adj" fmla="val 40001"/>
            </a:avLst>
          </a:prstGeom>
          <a:solidFill>
            <a:srgbClr val="282C32"/>
          </a:solidFill>
          <a:ln/>
          <a:effectLst>
            <a:outerShdw blurRad="54610" dist="2667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3" name="Text 10"/>
          <p:cNvSpPr/>
          <p:nvPr/>
        </p:nvSpPr>
        <p:spPr>
          <a:xfrm>
            <a:off x="1124426" y="4925134"/>
            <a:ext cx="190143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750" dirty="0"/>
          </a:p>
        </p:txBody>
      </p:sp>
      <p:sp>
        <p:nvSpPr>
          <p:cNvPr id="14" name="Text 11"/>
          <p:cNvSpPr/>
          <p:nvPr/>
        </p:nvSpPr>
        <p:spPr>
          <a:xfrm>
            <a:off x="1693188" y="4850363"/>
            <a:ext cx="2933343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Temporal Modeling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1693188" y="5350782"/>
            <a:ext cx="569904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Static CNNs lack complexity for dynamic driving.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7615118" y="4850363"/>
            <a:ext cx="501610" cy="501610"/>
          </a:xfrm>
          <a:prstGeom prst="roundRect">
            <a:avLst>
              <a:gd name="adj" fmla="val 40001"/>
            </a:avLst>
          </a:prstGeom>
          <a:solidFill>
            <a:srgbClr val="282C32"/>
          </a:solidFill>
          <a:ln/>
          <a:effectLst>
            <a:outerShdw blurRad="54610" dist="2667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7" name="Text 14"/>
          <p:cNvSpPr/>
          <p:nvPr/>
        </p:nvSpPr>
        <p:spPr>
          <a:xfrm>
            <a:off x="7759422" y="4925134"/>
            <a:ext cx="213003" cy="352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75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2750" dirty="0"/>
          </a:p>
        </p:txBody>
      </p:sp>
      <p:sp>
        <p:nvSpPr>
          <p:cNvPr id="18" name="Text 15"/>
          <p:cNvSpPr/>
          <p:nvPr/>
        </p:nvSpPr>
        <p:spPr>
          <a:xfrm>
            <a:off x="8339614" y="4850363"/>
            <a:ext cx="2933343" cy="366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Future Directions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8339614" y="5350782"/>
            <a:ext cx="5699046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Explore vision transformers, reinforcement learning for improvements.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780088" y="825097"/>
            <a:ext cx="8755200" cy="847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300"/>
              </a:lnSpc>
              <a:buNone/>
            </a:pPr>
            <a:r>
              <a:rPr lang="en-US" sz="50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YOLO-Based Object Detection</a:t>
            </a:r>
            <a:endParaRPr lang="en-US" sz="5050" dirty="0"/>
          </a:p>
        </p:txBody>
      </p:sp>
      <p:sp>
        <p:nvSpPr>
          <p:cNvPr id="4" name="Shape 1"/>
          <p:cNvSpPr/>
          <p:nvPr/>
        </p:nvSpPr>
        <p:spPr>
          <a:xfrm>
            <a:off x="329745" y="2127563"/>
            <a:ext cx="549831" cy="549831"/>
          </a:xfrm>
          <a:prstGeom prst="roundRect">
            <a:avLst>
              <a:gd name="adj" fmla="val 40005"/>
            </a:avLst>
          </a:prstGeom>
          <a:solidFill>
            <a:srgbClr val="282C32"/>
          </a:solidFill>
          <a:ln/>
          <a:effectLst>
            <a:outerShdw blurRad="60960" dist="3048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5" name="Text 2"/>
          <p:cNvSpPr/>
          <p:nvPr/>
        </p:nvSpPr>
        <p:spPr>
          <a:xfrm>
            <a:off x="536318" y="2209478"/>
            <a:ext cx="136565" cy="385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029657" y="2127563"/>
            <a:ext cx="3215759" cy="401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Architecture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1029657" y="2674389"/>
            <a:ext cx="4096108" cy="782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50"/>
              </a:lnSpc>
              <a:buNone/>
            </a:pPr>
            <a:r>
              <a:rPr lang="en-US" sz="19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Single-pass object detection </a:t>
            </a:r>
          </a:p>
          <a:p>
            <a:pPr marL="0" indent="0">
              <a:lnSpc>
                <a:spcPts val="3050"/>
              </a:lnSpc>
              <a:buNone/>
            </a:pPr>
            <a:r>
              <a:rPr lang="en-US" sz="19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for real-time applications.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005308" y="2126252"/>
            <a:ext cx="549831" cy="549831"/>
          </a:xfrm>
          <a:prstGeom prst="roundRect">
            <a:avLst>
              <a:gd name="adj" fmla="val 40005"/>
            </a:avLst>
          </a:prstGeom>
          <a:solidFill>
            <a:srgbClr val="282C32"/>
          </a:solidFill>
          <a:ln/>
          <a:effectLst>
            <a:outerShdw blurRad="60960" dist="3048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9" name="Text 6"/>
          <p:cNvSpPr/>
          <p:nvPr/>
        </p:nvSpPr>
        <p:spPr>
          <a:xfrm>
            <a:off x="5172115" y="2208167"/>
            <a:ext cx="216098" cy="385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799455" y="2126252"/>
            <a:ext cx="3215759" cy="401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Process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5799455" y="2667189"/>
            <a:ext cx="4929852" cy="7820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50"/>
              </a:lnSpc>
              <a:buNone/>
            </a:pPr>
            <a:r>
              <a:rPr lang="en-US" sz="19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Predicts bounding boxes and </a:t>
            </a:r>
          </a:p>
          <a:p>
            <a:pPr marL="0" indent="0">
              <a:lnSpc>
                <a:spcPts val="3050"/>
              </a:lnSpc>
              <a:buNone/>
            </a:pPr>
            <a:r>
              <a:rPr lang="en-US" sz="19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classifies objects with confidence scores.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10534307" y="2134633"/>
            <a:ext cx="549831" cy="549831"/>
          </a:xfrm>
          <a:prstGeom prst="roundRect">
            <a:avLst>
              <a:gd name="adj" fmla="val 40005"/>
            </a:avLst>
          </a:prstGeom>
          <a:solidFill>
            <a:srgbClr val="282C32"/>
          </a:solidFill>
          <a:ln/>
          <a:effectLst>
            <a:outerShdw blurRad="60960" dist="3048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3" name="Text 10"/>
          <p:cNvSpPr/>
          <p:nvPr/>
        </p:nvSpPr>
        <p:spPr>
          <a:xfrm>
            <a:off x="10705043" y="2216547"/>
            <a:ext cx="208359" cy="385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11254874" y="2127563"/>
            <a:ext cx="3215759" cy="401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Application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11254874" y="2676083"/>
            <a:ext cx="2935916" cy="391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050"/>
              </a:lnSpc>
              <a:buNone/>
            </a:pPr>
            <a:r>
              <a:rPr lang="en-US" sz="19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Adapted for Trackmania </a:t>
            </a:r>
          </a:p>
          <a:p>
            <a:pPr marL="0" indent="0">
              <a:lnSpc>
                <a:spcPts val="3050"/>
              </a:lnSpc>
              <a:buNone/>
            </a:pPr>
            <a:r>
              <a:rPr lang="en-US" sz="19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 detection tasks.</a:t>
            </a:r>
            <a:endParaRPr lang="en-US" sz="1900" dirty="0"/>
          </a:p>
        </p:txBody>
      </p:sp>
      <p:pic>
        <p:nvPicPr>
          <p:cNvPr id="19" name="Picture 18" descr="A graph with blue squares&#10;&#10;Description automatically generated">
            <a:extLst>
              <a:ext uri="{FF2B5EF4-FFF2-40B4-BE49-F238E27FC236}">
                <a16:creationId xmlns:a16="http://schemas.microsoft.com/office/drawing/2014/main" id="{81D7D8BA-7544-9909-B91D-1C79F52811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4511" y="4446487"/>
            <a:ext cx="3026354" cy="226976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21" name="Picture 20" descr="A video game of a race car&#10;&#10;Description automatically generated">
            <a:extLst>
              <a:ext uri="{FF2B5EF4-FFF2-40B4-BE49-F238E27FC236}">
                <a16:creationId xmlns:a16="http://schemas.microsoft.com/office/drawing/2014/main" id="{56B36C66-24D0-9544-4CF8-0D26AB8EC5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410" y="4446487"/>
            <a:ext cx="3972087" cy="226976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22" name="Picture 21" descr="A group of graphs showing different types of data&#10;&#10;Description automatically generated with medium confidence">
            <a:extLst>
              <a:ext uri="{FF2B5EF4-FFF2-40B4-BE49-F238E27FC236}">
                <a16:creationId xmlns:a16="http://schemas.microsoft.com/office/drawing/2014/main" id="{5293EF4E-17C9-FFF3-E841-5C239014BA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5879" y="4446487"/>
            <a:ext cx="4539530" cy="226976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08372" y="642974"/>
            <a:ext cx="7557611" cy="1490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YOLO Implementation and Labeling</a:t>
            </a:r>
            <a:endParaRPr lang="en-US" sz="4650" dirty="0"/>
          </a:p>
        </p:txBody>
      </p:sp>
      <p:sp>
        <p:nvSpPr>
          <p:cNvPr id="4" name="Shape 1"/>
          <p:cNvSpPr/>
          <p:nvPr/>
        </p:nvSpPr>
        <p:spPr>
          <a:xfrm>
            <a:off x="633056" y="2473799"/>
            <a:ext cx="30480" cy="5151001"/>
          </a:xfrm>
          <a:prstGeom prst="roundRect">
            <a:avLst>
              <a:gd name="adj" fmla="val 669186"/>
            </a:avLst>
          </a:prstGeom>
          <a:solidFill>
            <a:srgbClr val="60646A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5" name="Shape 2"/>
          <p:cNvSpPr/>
          <p:nvPr/>
        </p:nvSpPr>
        <p:spPr>
          <a:xfrm>
            <a:off x="872729" y="2968384"/>
            <a:ext cx="793194" cy="30480"/>
          </a:xfrm>
          <a:prstGeom prst="roundRect">
            <a:avLst>
              <a:gd name="adj" fmla="val 669186"/>
            </a:avLst>
          </a:prstGeom>
          <a:solidFill>
            <a:srgbClr val="60646A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6" name="Shape 3"/>
          <p:cNvSpPr/>
          <p:nvPr/>
        </p:nvSpPr>
        <p:spPr>
          <a:xfrm>
            <a:off x="393383" y="2728711"/>
            <a:ext cx="509826" cy="509826"/>
          </a:xfrm>
          <a:prstGeom prst="roundRect">
            <a:avLst>
              <a:gd name="adj" fmla="val 40007"/>
            </a:avLst>
          </a:prstGeom>
          <a:solidFill>
            <a:srgbClr val="282C32"/>
          </a:solidFill>
          <a:ln/>
          <a:effectLst>
            <a:outerShdw blurRad="55880" dist="2794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7" name="Text 4"/>
          <p:cNvSpPr/>
          <p:nvPr/>
        </p:nvSpPr>
        <p:spPr>
          <a:xfrm>
            <a:off x="584955" y="2804673"/>
            <a:ext cx="126683" cy="357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1894761" y="2700375"/>
            <a:ext cx="2981920" cy="372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Code Workflow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1894761" y="3209129"/>
            <a:ext cx="5971223" cy="724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chemeClr val="bg1"/>
                </a:solidFill>
                <a:latin typeface="Montserrat" panose="00000500000000000000" pitchFamily="2" charset="0"/>
              </a:rPr>
              <a:t>Splits data into train/</a:t>
            </a:r>
            <a:r>
              <a:rPr lang="en-US" sz="1750" dirty="0" err="1">
                <a:solidFill>
                  <a:schemeClr val="bg1"/>
                </a:solidFill>
                <a:latin typeface="Montserrat" panose="00000500000000000000" pitchFamily="2" charset="0"/>
              </a:rPr>
              <a:t>val</a:t>
            </a:r>
            <a:r>
              <a:rPr lang="en-US" sz="1750" dirty="0">
                <a:solidFill>
                  <a:schemeClr val="bg1"/>
                </a:solidFill>
                <a:latin typeface="Montserrat" panose="00000500000000000000" pitchFamily="2" charset="0"/>
              </a:rPr>
              <a:t> sets, creates a YOLO-compatible configuration, and trains YOLOv8 on custom </a:t>
            </a:r>
            <a:r>
              <a:rPr lang="en-US" sz="1750" dirty="0" err="1">
                <a:solidFill>
                  <a:schemeClr val="bg1"/>
                </a:solidFill>
                <a:latin typeface="Montserrat" panose="00000500000000000000" pitchFamily="2" charset="0"/>
              </a:rPr>
              <a:t>Trackmania</a:t>
            </a:r>
            <a:r>
              <a:rPr lang="en-US" sz="1750" dirty="0">
                <a:solidFill>
                  <a:schemeClr val="bg1"/>
                </a:solidFill>
                <a:latin typeface="Montserrat" panose="00000500000000000000" pitchFamily="2" charset="0"/>
              </a:rPr>
              <a:t> dataset</a:t>
            </a:r>
          </a:p>
        </p:txBody>
      </p:sp>
      <p:sp>
        <p:nvSpPr>
          <p:cNvPr id="10" name="Shape 7"/>
          <p:cNvSpPr/>
          <p:nvPr/>
        </p:nvSpPr>
        <p:spPr>
          <a:xfrm>
            <a:off x="872729" y="4881719"/>
            <a:ext cx="793194" cy="30480"/>
          </a:xfrm>
          <a:prstGeom prst="roundRect">
            <a:avLst>
              <a:gd name="adj" fmla="val 669186"/>
            </a:avLst>
          </a:prstGeom>
          <a:solidFill>
            <a:srgbClr val="60646A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1" name="Shape 8"/>
          <p:cNvSpPr/>
          <p:nvPr/>
        </p:nvSpPr>
        <p:spPr>
          <a:xfrm>
            <a:off x="393383" y="4642046"/>
            <a:ext cx="509826" cy="509826"/>
          </a:xfrm>
          <a:prstGeom prst="roundRect">
            <a:avLst>
              <a:gd name="adj" fmla="val 40007"/>
            </a:avLst>
          </a:prstGeom>
          <a:solidFill>
            <a:srgbClr val="282C32"/>
          </a:solidFill>
          <a:ln/>
          <a:effectLst>
            <a:outerShdw blurRad="55880" dist="2794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2" name="Text 9"/>
          <p:cNvSpPr/>
          <p:nvPr/>
        </p:nvSpPr>
        <p:spPr>
          <a:xfrm>
            <a:off x="548045" y="4718008"/>
            <a:ext cx="200382" cy="357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1894761" y="4613709"/>
            <a:ext cx="2981920" cy="372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Labeling Process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1894761" y="5122463"/>
            <a:ext cx="5971223" cy="362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labeling of ~40 images to refine detection.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872729" y="6432627"/>
            <a:ext cx="793194" cy="30480"/>
          </a:xfrm>
          <a:prstGeom prst="roundRect">
            <a:avLst>
              <a:gd name="adj" fmla="val 669186"/>
            </a:avLst>
          </a:prstGeom>
          <a:solidFill>
            <a:srgbClr val="60646A"/>
          </a:solidFill>
          <a:ln/>
        </p:spPr>
        <p:txBody>
          <a:bodyPr/>
          <a:lstStyle/>
          <a:p>
            <a:endParaRPr lang="en-BE"/>
          </a:p>
        </p:txBody>
      </p:sp>
      <p:sp>
        <p:nvSpPr>
          <p:cNvPr id="16" name="Shape 13"/>
          <p:cNvSpPr/>
          <p:nvPr/>
        </p:nvSpPr>
        <p:spPr>
          <a:xfrm>
            <a:off x="393383" y="6192954"/>
            <a:ext cx="509826" cy="509826"/>
          </a:xfrm>
          <a:prstGeom prst="roundRect">
            <a:avLst>
              <a:gd name="adj" fmla="val 40007"/>
            </a:avLst>
          </a:prstGeom>
          <a:solidFill>
            <a:srgbClr val="282C32"/>
          </a:solidFill>
          <a:ln/>
          <a:effectLst>
            <a:outerShdw blurRad="55880" dist="2794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7" name="Text 14"/>
          <p:cNvSpPr/>
          <p:nvPr/>
        </p:nvSpPr>
        <p:spPr>
          <a:xfrm>
            <a:off x="551617" y="6268916"/>
            <a:ext cx="193238" cy="357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1894761" y="6164617"/>
            <a:ext cx="2981920" cy="372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Dataset Limitation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1894761" y="6673371"/>
            <a:ext cx="5971223" cy="724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Small dataset size limiting robust accuracy across scenarios.</a:t>
            </a:r>
            <a:endParaRPr lang="en-US" sz="1750" dirty="0"/>
          </a:p>
        </p:txBody>
      </p:sp>
      <p:pic>
        <p:nvPicPr>
          <p:cNvPr id="21" name="Picture 20" descr="A screenshot of a video game&#10;&#10;Description automatically generated">
            <a:extLst>
              <a:ext uri="{FF2B5EF4-FFF2-40B4-BE49-F238E27FC236}">
                <a16:creationId xmlns:a16="http://schemas.microsoft.com/office/drawing/2014/main" id="{5BA76A97-65C7-F51E-CA4D-B24A53962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717" y="975789"/>
            <a:ext cx="3637920" cy="36379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F03D700-C9D9-D713-FDEB-94DD0E3FA8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6678" y="3430522"/>
            <a:ext cx="3640339" cy="421239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145816" y="469955"/>
            <a:ext cx="6338768" cy="68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Use of Generative AI Tools</a:t>
            </a:r>
            <a:endParaRPr lang="en-US" sz="4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396" y="1665669"/>
            <a:ext cx="523161" cy="52316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07396" y="2398023"/>
            <a:ext cx="2753439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Model Optimization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4407396" y="2867724"/>
            <a:ext cx="767929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ChatGPT provided guidance on tuning and structures.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396" y="3830226"/>
            <a:ext cx="523161" cy="52316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407396" y="4562579"/>
            <a:ext cx="2753439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Report Drafting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4407396" y="5032281"/>
            <a:ext cx="767929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assisted in organizing and clarifying complex explanations.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7396" y="5994782"/>
            <a:ext cx="523161" cy="52316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407396" y="6727135"/>
            <a:ext cx="2753439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Debugging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4407396" y="7196837"/>
            <a:ext cx="7679293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tools helped resolve preprocessing and training issues.</a:t>
            </a:r>
            <a:endParaRPr lang="en-US" sz="16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F42350-4AB6-708D-EA76-F97F0F5236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37297" y="1054953"/>
            <a:ext cx="3383535" cy="25701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5AEC162-2EAA-77D0-D48D-6529754B06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620" y="1318445"/>
            <a:ext cx="3401508" cy="17233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16827A8-AF36-A4EE-6600-155DD5033E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821" y="3345901"/>
            <a:ext cx="3401307" cy="40497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7C9E5D0-DD64-38CF-5C65-A57884D86A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37297" y="3830226"/>
            <a:ext cx="3383535" cy="38280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98437" y="914995"/>
            <a:ext cx="6497003" cy="812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6350"/>
              </a:lnSpc>
              <a:buNone/>
            </a:pPr>
            <a:r>
              <a:rPr lang="en-US" sz="5100" b="1" dirty="0">
                <a:solidFill>
                  <a:srgbClr val="9998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Conclusion</a:t>
            </a:r>
            <a:endParaRPr lang="en-US" sz="5100" dirty="0"/>
          </a:p>
        </p:txBody>
      </p:sp>
      <p:sp>
        <p:nvSpPr>
          <p:cNvPr id="4" name="Shape 1"/>
          <p:cNvSpPr/>
          <p:nvPr/>
        </p:nvSpPr>
        <p:spPr>
          <a:xfrm>
            <a:off x="698437" y="2097405"/>
            <a:ext cx="7415927" cy="1442799"/>
          </a:xfrm>
          <a:prstGeom prst="roundRect">
            <a:avLst>
              <a:gd name="adj" fmla="val 15401"/>
            </a:avLst>
          </a:prstGeom>
          <a:solidFill>
            <a:srgbClr val="282C32"/>
          </a:solidFill>
          <a:ln/>
          <a:effectLst>
            <a:outerShdw blurRad="60960" dist="3048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5" name="Text 2"/>
          <p:cNvSpPr/>
          <p:nvPr/>
        </p:nvSpPr>
        <p:spPr>
          <a:xfrm>
            <a:off x="945253" y="2344222"/>
            <a:ext cx="3248501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55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Balance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945253" y="2898338"/>
            <a:ext cx="692229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Turn data essential for accurate navigation.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98437" y="3787021"/>
            <a:ext cx="7415927" cy="1442799"/>
          </a:xfrm>
          <a:prstGeom prst="roundRect">
            <a:avLst>
              <a:gd name="adj" fmla="val 15401"/>
            </a:avLst>
          </a:prstGeom>
          <a:solidFill>
            <a:srgbClr val="282C32"/>
          </a:solidFill>
          <a:ln/>
          <a:effectLst>
            <a:outerShdw blurRad="60960" dist="3048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8" name="Text 5"/>
          <p:cNvSpPr/>
          <p:nvPr/>
        </p:nvSpPr>
        <p:spPr>
          <a:xfrm>
            <a:off x="945253" y="4033838"/>
            <a:ext cx="3550801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55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Architecture Limitations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945253" y="4587954"/>
            <a:ext cx="692229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Static CNNs lack temporal and spatial complexity.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98437" y="5476637"/>
            <a:ext cx="7415927" cy="1837849"/>
          </a:xfrm>
          <a:prstGeom prst="roundRect">
            <a:avLst>
              <a:gd name="adj" fmla="val 12090"/>
            </a:avLst>
          </a:prstGeom>
          <a:solidFill>
            <a:srgbClr val="282C32"/>
          </a:solidFill>
          <a:ln/>
          <a:effectLst>
            <a:outerShdw blurRad="60960" dist="30480" dir="13500000" algn="bl" rotWithShape="0">
              <a:srgbClr val="FFFFFF">
                <a:alpha val="10000"/>
              </a:srgbClr>
            </a:outerShdw>
          </a:effectLst>
        </p:spPr>
        <p:txBody>
          <a:bodyPr/>
          <a:lstStyle/>
          <a:p>
            <a:endParaRPr lang="en-BE"/>
          </a:p>
        </p:txBody>
      </p:sp>
      <p:sp>
        <p:nvSpPr>
          <p:cNvPr id="11" name="Text 8"/>
          <p:cNvSpPr/>
          <p:nvPr/>
        </p:nvSpPr>
        <p:spPr>
          <a:xfrm>
            <a:off x="945253" y="5723453"/>
            <a:ext cx="3248501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50"/>
              </a:lnSpc>
              <a:buNone/>
            </a:pPr>
            <a:r>
              <a:rPr lang="en-US" sz="2550" b="1" dirty="0">
                <a:solidFill>
                  <a:srgbClr val="EEEFF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Future Enhancements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945253" y="6277570"/>
            <a:ext cx="692229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n-US" sz="1900" dirty="0">
                <a:solidFill>
                  <a:srgbClr val="EEEF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Temporal models and contextual inputs could improve performance.</a:t>
            </a:r>
            <a:endParaRPr lang="en-US" sz="1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D50461A-F2C0-8C98-A545-9E9FBDDD6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1567" y="2129655"/>
            <a:ext cx="2074796" cy="198514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5" name="Picture 14" descr="A graph of a bar chart&#10;&#10;Description automatically generated with medium confidence">
            <a:extLst>
              <a:ext uri="{FF2B5EF4-FFF2-40B4-BE49-F238E27FC236}">
                <a16:creationId xmlns:a16="http://schemas.microsoft.com/office/drawing/2014/main" id="{EA729B4F-1393-5587-F5A3-7F1469A669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0738" y="777493"/>
            <a:ext cx="3038805" cy="189925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7" name="Picture 16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F40467B0-51A1-D189-63F8-A6CE470F1A9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076" r="8430"/>
          <a:stretch/>
        </p:blipFill>
        <p:spPr>
          <a:xfrm>
            <a:off x="8450738" y="4587954"/>
            <a:ext cx="2829748" cy="16722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E0658F9-93DD-8113-5090-EEAB9AC9ED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55127" y="5267643"/>
            <a:ext cx="2467675" cy="19851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8E0DB03C9DF146B5E7B6AF5B468A21" ma:contentTypeVersion="16" ma:contentTypeDescription="Een nieuw document maken." ma:contentTypeScope="" ma:versionID="500776ae9f6a95ca64846397681725f0">
  <xsd:schema xmlns:xsd="http://www.w3.org/2001/XMLSchema" xmlns:xs="http://www.w3.org/2001/XMLSchema" xmlns:p="http://schemas.microsoft.com/office/2006/metadata/properties" xmlns:ns3="f9b55181-060e-409f-adae-55d12f7dd7c4" xmlns:ns4="8dec3582-986c-48ce-b46a-8517ec0added" targetNamespace="http://schemas.microsoft.com/office/2006/metadata/properties" ma:root="true" ma:fieldsID="b86adfa5f0e1d1953674d935c204ec20" ns3:_="" ns4:_="">
    <xsd:import namespace="f9b55181-060e-409f-adae-55d12f7dd7c4"/>
    <xsd:import namespace="8dec3582-986c-48ce-b46a-8517ec0adde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b55181-060e-409f-adae-55d12f7dd7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ec3582-986c-48ce-b46a-8517ec0added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Hint-hash delen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9b55181-060e-409f-adae-55d12f7dd7c4" xsi:nil="true"/>
  </documentManagement>
</p:properties>
</file>

<file path=customXml/itemProps1.xml><?xml version="1.0" encoding="utf-8"?>
<ds:datastoreItem xmlns:ds="http://schemas.openxmlformats.org/officeDocument/2006/customXml" ds:itemID="{A1F7F05E-03E8-407D-A7E7-20D644A304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BD1B1F-33DE-47D3-BF98-5931A2DBCD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b55181-060e-409f-adae-55d12f7dd7c4"/>
    <ds:schemaRef ds:uri="8dec3582-986c-48ce-b46a-8517ec0add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BB263E7-1280-4C66-8996-285D31D136F7}">
  <ds:schemaRefs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www.w3.org/XML/1998/namespace"/>
    <ds:schemaRef ds:uri="http://purl.org/dc/elements/1.1/"/>
    <ds:schemaRef ds:uri="http://schemas.microsoft.com/office/infopath/2007/PartnerControls"/>
    <ds:schemaRef ds:uri="8dec3582-986c-48ce-b46a-8517ec0added"/>
    <ds:schemaRef ds:uri="f9b55181-060e-409f-adae-55d12f7dd7c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540</Words>
  <Application>Microsoft Office PowerPoint</Application>
  <PresentationFormat>Custom</PresentationFormat>
  <Paragraphs>135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gg sans</vt:lpstr>
      <vt:lpstr>Montserrat</vt:lpstr>
      <vt:lpstr>Barlow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Egemen Alkan</cp:lastModifiedBy>
  <cp:revision>13</cp:revision>
  <dcterms:created xsi:type="dcterms:W3CDTF">2024-11-01T11:11:19Z</dcterms:created>
  <dcterms:modified xsi:type="dcterms:W3CDTF">2024-11-05T14:22:26Z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337be75-dfbb-4261-9834-ac247c7dde13_Enabled">
    <vt:lpwstr>true</vt:lpwstr>
  </property>
  <property fmtid="{D5CDD505-2E9C-101B-9397-08002B2CF9AE}" pid="3" name="MSIP_Label_c337be75-dfbb-4261-9834-ac247c7dde13_SetDate">
    <vt:lpwstr>2024-11-01T22:22:19Z</vt:lpwstr>
  </property>
  <property fmtid="{D5CDD505-2E9C-101B-9397-08002B2CF9AE}" pid="4" name="MSIP_Label_c337be75-dfbb-4261-9834-ac247c7dde13_Method">
    <vt:lpwstr>Standard</vt:lpwstr>
  </property>
  <property fmtid="{D5CDD505-2E9C-101B-9397-08002B2CF9AE}" pid="5" name="MSIP_Label_c337be75-dfbb-4261-9834-ac247c7dde13_Name">
    <vt:lpwstr>Algemeen</vt:lpwstr>
  </property>
  <property fmtid="{D5CDD505-2E9C-101B-9397-08002B2CF9AE}" pid="6" name="MSIP_Label_c337be75-dfbb-4261-9834-ac247c7dde13_SiteId">
    <vt:lpwstr>77d33cc5-c9b4-4766-95c7-ed5b515e1cce</vt:lpwstr>
  </property>
  <property fmtid="{D5CDD505-2E9C-101B-9397-08002B2CF9AE}" pid="7" name="MSIP_Label_c337be75-dfbb-4261-9834-ac247c7dde13_ActionId">
    <vt:lpwstr>68399683-2e58-4cac-869e-8f9d72d55d9c</vt:lpwstr>
  </property>
  <property fmtid="{D5CDD505-2E9C-101B-9397-08002B2CF9AE}" pid="8" name="MSIP_Label_c337be75-dfbb-4261-9834-ac247c7dde13_ContentBits">
    <vt:lpwstr>0</vt:lpwstr>
  </property>
  <property fmtid="{D5CDD505-2E9C-101B-9397-08002B2CF9AE}" pid="9" name="ContentTypeId">
    <vt:lpwstr>0x0101000A8E0DB03C9DF146B5E7B6AF5B468A21</vt:lpwstr>
  </property>
</Properties>
</file>